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7" r:id="rId2"/>
    <p:sldId id="883" r:id="rId3"/>
    <p:sldId id="884" r:id="rId4"/>
    <p:sldId id="885" r:id="rId5"/>
    <p:sldId id="886" r:id="rId6"/>
    <p:sldId id="887" r:id="rId7"/>
    <p:sldId id="888" r:id="rId8"/>
    <p:sldId id="889" r:id="rId9"/>
    <p:sldId id="890" r:id="rId10"/>
    <p:sldId id="891" r:id="rId11"/>
    <p:sldId id="892" r:id="rId12"/>
    <p:sldId id="893" r:id="rId13"/>
    <p:sldId id="894" r:id="rId14"/>
    <p:sldId id="895" r:id="rId15"/>
    <p:sldId id="896" r:id="rId16"/>
    <p:sldId id="897" r:id="rId17"/>
    <p:sldId id="898" r:id="rId18"/>
    <p:sldId id="900" r:id="rId19"/>
    <p:sldId id="902" r:id="rId20"/>
    <p:sldId id="901" r:id="rId21"/>
    <p:sldId id="90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995" autoAdjust="0"/>
    <p:restoredTop sz="94660"/>
  </p:normalViewPr>
  <p:slideViewPr>
    <p:cSldViewPr snapToGrid="0">
      <p:cViewPr>
        <p:scale>
          <a:sx n="90" d="100"/>
          <a:sy n="90" d="100"/>
        </p:scale>
        <p:origin x="1308" y="516"/>
      </p:cViewPr>
      <p:guideLst/>
    </p:cSldViewPr>
  </p:slideViewPr>
  <p:notesTextViewPr>
    <p:cViewPr>
      <p:scale>
        <a:sx n="1" d="1"/>
        <a:sy n="1" d="1"/>
      </p:scale>
      <p:origin x="0" y="0"/>
    </p:cViewPr>
  </p:notesTextViewPr>
  <p:sorterViewPr>
    <p:cViewPr>
      <p:scale>
        <a:sx n="100" d="100"/>
        <a:sy n="100" d="100"/>
      </p:scale>
      <p:origin x="0" y="-21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520094-FB53-4D74-90C8-3B90ED5CA22C}" type="datetimeFigureOut">
              <a:rPr lang="en-AU" smtClean="0"/>
              <a:t>12/10/2026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82D812-793F-4284-A735-A7869CB1D065}" type="slidenum">
              <a:rPr lang="en-AU" smtClean="0"/>
              <a:t>‹#›</a:t>
            </a:fld>
            <a:endParaRPr lang="en-AU"/>
          </a:p>
        </p:txBody>
      </p:sp>
    </p:spTree>
    <p:extLst>
      <p:ext uri="{BB962C8B-B14F-4D97-AF65-F5344CB8AC3E}">
        <p14:creationId xmlns:p14="http://schemas.microsoft.com/office/powerpoint/2010/main" val="2907263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a:t>
            </a:fld>
            <a:endParaRPr lang="en-AU"/>
          </a:p>
        </p:txBody>
      </p:sp>
    </p:spTree>
    <p:extLst>
      <p:ext uri="{BB962C8B-B14F-4D97-AF65-F5344CB8AC3E}">
        <p14:creationId xmlns:p14="http://schemas.microsoft.com/office/powerpoint/2010/main" val="104821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3</a:t>
            </a:fld>
            <a:endParaRPr lang="en-AU"/>
          </a:p>
        </p:txBody>
      </p:sp>
    </p:spTree>
    <p:extLst>
      <p:ext uri="{BB962C8B-B14F-4D97-AF65-F5344CB8AC3E}">
        <p14:creationId xmlns:p14="http://schemas.microsoft.com/office/powerpoint/2010/main" val="2643393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4</a:t>
            </a:fld>
            <a:endParaRPr lang="en-AU"/>
          </a:p>
        </p:txBody>
      </p:sp>
    </p:spTree>
    <p:extLst>
      <p:ext uri="{BB962C8B-B14F-4D97-AF65-F5344CB8AC3E}">
        <p14:creationId xmlns:p14="http://schemas.microsoft.com/office/powerpoint/2010/main" val="3924139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5</a:t>
            </a:fld>
            <a:endParaRPr lang="en-AU"/>
          </a:p>
        </p:txBody>
      </p:sp>
    </p:spTree>
    <p:extLst>
      <p:ext uri="{BB962C8B-B14F-4D97-AF65-F5344CB8AC3E}">
        <p14:creationId xmlns:p14="http://schemas.microsoft.com/office/powerpoint/2010/main" val="2719819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6</a:t>
            </a:fld>
            <a:endParaRPr lang="en-AU"/>
          </a:p>
        </p:txBody>
      </p:sp>
    </p:spTree>
    <p:extLst>
      <p:ext uri="{BB962C8B-B14F-4D97-AF65-F5344CB8AC3E}">
        <p14:creationId xmlns:p14="http://schemas.microsoft.com/office/powerpoint/2010/main" val="4186302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7</a:t>
            </a:fld>
            <a:endParaRPr lang="en-AU"/>
          </a:p>
        </p:txBody>
      </p:sp>
    </p:spTree>
    <p:extLst>
      <p:ext uri="{BB962C8B-B14F-4D97-AF65-F5344CB8AC3E}">
        <p14:creationId xmlns:p14="http://schemas.microsoft.com/office/powerpoint/2010/main" val="1064015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8</a:t>
            </a:fld>
            <a:endParaRPr lang="en-AU"/>
          </a:p>
        </p:txBody>
      </p:sp>
    </p:spTree>
    <p:extLst>
      <p:ext uri="{BB962C8B-B14F-4D97-AF65-F5344CB8AC3E}">
        <p14:creationId xmlns:p14="http://schemas.microsoft.com/office/powerpoint/2010/main" val="3497325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9</a:t>
            </a:fld>
            <a:endParaRPr lang="en-AU"/>
          </a:p>
        </p:txBody>
      </p:sp>
    </p:spTree>
    <p:extLst>
      <p:ext uri="{BB962C8B-B14F-4D97-AF65-F5344CB8AC3E}">
        <p14:creationId xmlns:p14="http://schemas.microsoft.com/office/powerpoint/2010/main" val="712414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10</a:t>
            </a:fld>
            <a:endParaRPr lang="en-AU"/>
          </a:p>
        </p:txBody>
      </p:sp>
    </p:spTree>
    <p:extLst>
      <p:ext uri="{BB962C8B-B14F-4D97-AF65-F5344CB8AC3E}">
        <p14:creationId xmlns:p14="http://schemas.microsoft.com/office/powerpoint/2010/main" val="3224328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11</a:t>
            </a:fld>
            <a:endParaRPr lang="en-AU"/>
          </a:p>
        </p:txBody>
      </p:sp>
    </p:spTree>
    <p:extLst>
      <p:ext uri="{BB962C8B-B14F-4D97-AF65-F5344CB8AC3E}">
        <p14:creationId xmlns:p14="http://schemas.microsoft.com/office/powerpoint/2010/main" val="16113181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12</a:t>
            </a:fld>
            <a:endParaRPr lang="en-AU"/>
          </a:p>
        </p:txBody>
      </p:sp>
    </p:spTree>
    <p:extLst>
      <p:ext uri="{BB962C8B-B14F-4D97-AF65-F5344CB8AC3E}">
        <p14:creationId xmlns:p14="http://schemas.microsoft.com/office/powerpoint/2010/main" val="4268450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13</a:t>
            </a:fld>
            <a:endParaRPr lang="en-AU"/>
          </a:p>
        </p:txBody>
      </p:sp>
    </p:spTree>
    <p:extLst>
      <p:ext uri="{BB962C8B-B14F-4D97-AF65-F5344CB8AC3E}">
        <p14:creationId xmlns:p14="http://schemas.microsoft.com/office/powerpoint/2010/main" val="346747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15</a:t>
            </a:fld>
            <a:endParaRPr lang="en-AU"/>
          </a:p>
        </p:txBody>
      </p:sp>
    </p:spTree>
    <p:extLst>
      <p:ext uri="{BB962C8B-B14F-4D97-AF65-F5344CB8AC3E}">
        <p14:creationId xmlns:p14="http://schemas.microsoft.com/office/powerpoint/2010/main" val="2797025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16</a:t>
            </a:fld>
            <a:endParaRPr lang="en-AU"/>
          </a:p>
        </p:txBody>
      </p:sp>
    </p:spTree>
    <p:extLst>
      <p:ext uri="{BB962C8B-B14F-4D97-AF65-F5344CB8AC3E}">
        <p14:creationId xmlns:p14="http://schemas.microsoft.com/office/powerpoint/2010/main" val="26485868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17</a:t>
            </a:fld>
            <a:endParaRPr lang="en-AU"/>
          </a:p>
        </p:txBody>
      </p:sp>
    </p:spTree>
    <p:extLst>
      <p:ext uri="{BB962C8B-B14F-4D97-AF65-F5344CB8AC3E}">
        <p14:creationId xmlns:p14="http://schemas.microsoft.com/office/powerpoint/2010/main" val="1313626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18</a:t>
            </a:fld>
            <a:endParaRPr lang="en-AU"/>
          </a:p>
        </p:txBody>
      </p:sp>
    </p:spTree>
    <p:extLst>
      <p:ext uri="{BB962C8B-B14F-4D97-AF65-F5344CB8AC3E}">
        <p14:creationId xmlns:p14="http://schemas.microsoft.com/office/powerpoint/2010/main" val="4259769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19</a:t>
            </a:fld>
            <a:endParaRPr lang="en-AU"/>
          </a:p>
        </p:txBody>
      </p:sp>
    </p:spTree>
    <p:extLst>
      <p:ext uri="{BB962C8B-B14F-4D97-AF65-F5344CB8AC3E}">
        <p14:creationId xmlns:p14="http://schemas.microsoft.com/office/powerpoint/2010/main" val="13093629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20</a:t>
            </a:fld>
            <a:endParaRPr lang="en-AU"/>
          </a:p>
        </p:txBody>
      </p:sp>
    </p:spTree>
    <p:extLst>
      <p:ext uri="{BB962C8B-B14F-4D97-AF65-F5344CB8AC3E}">
        <p14:creationId xmlns:p14="http://schemas.microsoft.com/office/powerpoint/2010/main" val="34944495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9A9A2-9F71-1570-0D0B-FBDDB1D274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DA43F6-5895-46C7-145E-393A3D99D9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276C6-145B-462B-D6AC-6490DF8E0F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E5F7024-A846-C330-3BD9-C70C918839D3}"/>
              </a:ext>
            </a:extLst>
          </p:cNvPr>
          <p:cNvSpPr>
            <a:spLocks noGrp="1"/>
          </p:cNvSpPr>
          <p:nvPr>
            <p:ph type="sldNum" sz="quarter" idx="5"/>
          </p:nvPr>
        </p:nvSpPr>
        <p:spPr/>
        <p:txBody>
          <a:bodyPr/>
          <a:lstStyle/>
          <a:p>
            <a:fld id="{C3E4A984-FA65-47CB-8377-447F50C0CDED}" type="slidenum">
              <a:rPr lang="en-AU" smtClean="0"/>
              <a:t>21</a:t>
            </a:fld>
            <a:endParaRPr lang="en-AU"/>
          </a:p>
        </p:txBody>
      </p:sp>
    </p:spTree>
    <p:extLst>
      <p:ext uri="{BB962C8B-B14F-4D97-AF65-F5344CB8AC3E}">
        <p14:creationId xmlns:p14="http://schemas.microsoft.com/office/powerpoint/2010/main" val="2441479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471A4-B58C-40C7-ACC7-F9107E270F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33DC486-8B1F-4847-A672-1F19F18B18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8AE2605-B86B-4C39-8E3E-2CAE474A3377}"/>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13D65D82-0C1E-49B6-A4BF-143B5B02843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76B8211-EA2C-4B21-B907-FEB4789A834D}"/>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39326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64996-8C1B-4123-A1BC-945F2156E7D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BEFE586-118E-43AA-BDAC-F934F1B6A4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FA799EE-A009-4AD7-8ED2-7354238C2A64}"/>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584790F5-AD0B-43F8-8DB0-7EECCB97BB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3C7043-66F3-4CEE-91CC-F1DF2161B801}"/>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6886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0DCE0-F641-452D-A2FB-06326DFBD0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AB81646-EEC0-40CE-811B-25E2D6676F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82203-5BD0-460E-8CB1-736A09FDE6F3}"/>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800D4E99-EF41-40F5-9AD2-0BF43235FF6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6D11A29-198E-45B2-8AA1-26302A6437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640303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CABB1-27E8-436E-8391-4B8C0C3927F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9CA4C12-77F3-48C8-8BE1-E4A1C1989D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EB118EC-B1F9-4335-91E8-686527BD3F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D4E72C4C-E9D2-4A38-9DA8-9CCE4F364531}"/>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6FED95C8-3B1A-434B-8CFD-21357279D96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374E9D6-A6ED-44F2-B68F-235194BF1A5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29368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3FE22-686D-475D-9181-FA16A63F258C}"/>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0757003-FCF9-427D-9B84-9D315916D3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DC2113-0F6D-44B9-A7DA-15B001B53C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3DCD859-3D33-4C96-B95D-D469DE6B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6F3856-CFCB-4BA0-A8FF-F8316EBDC5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2FC432C-32B4-4CC8-B68C-47E17B6AC145}"/>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8" name="Footer Placeholder 7">
            <a:extLst>
              <a:ext uri="{FF2B5EF4-FFF2-40B4-BE49-F238E27FC236}">
                <a16:creationId xmlns:a16="http://schemas.microsoft.com/office/drawing/2014/main" id="{C7A80297-F617-45A3-B914-2442CE2A7B89}"/>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0B97718-06C4-4512-A9E5-C903625D5E54}"/>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790039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B8CC0-6B93-4300-A6C4-1180D4B8B28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B5C27AA-EB2D-48E6-8049-520B20C3C559}"/>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4" name="Footer Placeholder 3">
            <a:extLst>
              <a:ext uri="{FF2B5EF4-FFF2-40B4-BE49-F238E27FC236}">
                <a16:creationId xmlns:a16="http://schemas.microsoft.com/office/drawing/2014/main" id="{255ACAC1-7E7C-4885-BC2B-375C36FC90F7}"/>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3A04426-EFCE-4CF3-81B9-6AD5E3B936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1419259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A6C1FA-B0CD-4727-9A52-1C7BB44458C8}"/>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3" name="Footer Placeholder 2">
            <a:extLst>
              <a:ext uri="{FF2B5EF4-FFF2-40B4-BE49-F238E27FC236}">
                <a16:creationId xmlns:a16="http://schemas.microsoft.com/office/drawing/2014/main" id="{9E627923-117E-491B-923F-6124ABAB00FF}"/>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2AE2EFD9-3B27-4105-B54F-231AB460A2C9}"/>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63675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9437-EDEF-4324-99E9-547688B73C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B7CEB2CC-C30A-49F5-B061-BF98427287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0BBD8A7-1529-4F7D-BB45-A2DAFF9B60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D747F8-1F0B-44CC-B76C-249768AB79E4}"/>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5B23826A-99D0-4B68-B53F-9FAF1218F4C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B7E538-222A-46EF-81A1-9B0B735ABDEF}"/>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411989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5A6-C530-43CA-98DD-35BD7B597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E428680-95AA-4A86-9335-60A58BD828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7BD835A1-2663-47F6-8582-B225E4F720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3CF1C3-8D1D-47A7-A841-09CD8B0C7D66}"/>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6" name="Footer Placeholder 5">
            <a:extLst>
              <a:ext uri="{FF2B5EF4-FFF2-40B4-BE49-F238E27FC236}">
                <a16:creationId xmlns:a16="http://schemas.microsoft.com/office/drawing/2014/main" id="{34AD9B48-80EB-492B-A33D-C7623162D3B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A7AA910-09B5-4489-B817-0A87DF35D6C6}"/>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23447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6DD80-9431-4960-B3E9-29FBBB99465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125B747-B8F9-4B6A-A480-D5F0BFC092B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695DA87-F4D9-43E5-9761-FC0DCA404675}"/>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7F99904E-C9ED-4568-A230-6E7B1866CBD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F647D12-63D5-4AE8-9E5A-033061CA426E}"/>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120526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7CD830-63FA-49DB-9533-A5610633E0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A9578AE-FCA6-4113-965E-A40264BC2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D4B8185-7406-4AA8-88F8-9E3C393475B7}"/>
              </a:ext>
            </a:extLst>
          </p:cNvPr>
          <p:cNvSpPr>
            <a:spLocks noGrp="1"/>
          </p:cNvSpPr>
          <p:nvPr>
            <p:ph type="dt" sz="half" idx="10"/>
          </p:nvPr>
        </p:nvSpPr>
        <p:spPr/>
        <p:txBody>
          <a:body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0250EFAC-5B41-46D0-BA68-D4759CCE1F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2127DBC-E9B6-4236-9E3A-9BB1EB52C125}"/>
              </a:ext>
            </a:extLst>
          </p:cNvPr>
          <p:cNvSpPr>
            <a:spLocks noGrp="1"/>
          </p:cNvSpPr>
          <p:nvPr>
            <p:ph type="sldNum" sz="quarter" idx="12"/>
          </p:nvPr>
        </p:nvSpPr>
        <p:spPr/>
        <p:txBody>
          <a:bodyPr/>
          <a:lstStyle/>
          <a:p>
            <a:fld id="{6FBD1443-F093-47BB-852F-C71838E6DC6A}" type="slidenum">
              <a:rPr lang="en-AU" smtClean="0"/>
              <a:t>‹#›</a:t>
            </a:fld>
            <a:endParaRPr lang="en-AU"/>
          </a:p>
        </p:txBody>
      </p:sp>
    </p:spTree>
    <p:extLst>
      <p:ext uri="{BB962C8B-B14F-4D97-AF65-F5344CB8AC3E}">
        <p14:creationId xmlns:p14="http://schemas.microsoft.com/office/powerpoint/2010/main" val="3056661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slide with logo">
  <p:cSld name="Blank slide with logo">
    <p:spTree>
      <p:nvGrpSpPr>
        <p:cNvPr id="1" name="Shape 20"/>
        <p:cNvGrpSpPr/>
        <p:nvPr/>
      </p:nvGrpSpPr>
      <p:grpSpPr>
        <a:xfrm>
          <a:off x="0" y="0"/>
          <a:ext cx="0" cy="0"/>
          <a:chOff x="0" y="0"/>
          <a:chExt cx="0" cy="0"/>
        </a:xfrm>
      </p:grpSpPr>
      <p:pic>
        <p:nvPicPr>
          <p:cNvPr id="21" name="Google Shape;21;p57"/>
          <p:cNvPicPr preferRelativeResize="0"/>
          <p:nvPr/>
        </p:nvPicPr>
        <p:blipFill rotWithShape="1">
          <a:blip r:embed="rId2">
            <a:alphaModFix/>
          </a:blip>
          <a:srcRect/>
          <a:stretch/>
        </p:blipFill>
        <p:spPr>
          <a:xfrm>
            <a:off x="144964" y="6061928"/>
            <a:ext cx="1712692" cy="729166"/>
          </a:xfrm>
          <a:prstGeom prst="rect">
            <a:avLst/>
          </a:prstGeom>
          <a:noFill/>
          <a:ln>
            <a:noFill/>
          </a:ln>
        </p:spPr>
      </p:pic>
    </p:spTree>
    <p:extLst>
      <p:ext uri="{BB962C8B-B14F-4D97-AF65-F5344CB8AC3E}">
        <p14:creationId xmlns:p14="http://schemas.microsoft.com/office/powerpoint/2010/main" val="564139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D53226-C1E9-484E-AA28-9B754F4522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5E09D47-4554-4BAF-A6EB-D43FB5CBE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33EB1F-CFEF-44CA-A347-2991A27794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159D23-133D-4E17-A6C3-77C76B79CC34}" type="datetimeFigureOut">
              <a:rPr lang="en-AU" smtClean="0"/>
              <a:t>12/10/2026</a:t>
            </a:fld>
            <a:endParaRPr lang="en-AU"/>
          </a:p>
        </p:txBody>
      </p:sp>
      <p:sp>
        <p:nvSpPr>
          <p:cNvPr id="5" name="Footer Placeholder 4">
            <a:extLst>
              <a:ext uri="{FF2B5EF4-FFF2-40B4-BE49-F238E27FC236}">
                <a16:creationId xmlns:a16="http://schemas.microsoft.com/office/drawing/2014/main" id="{CFD117A1-4C96-4D99-AEA5-541B9CFD84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F625DF-A619-40A9-A782-E56F44E3E5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BD1443-F093-47BB-852F-C71838E6DC6A}" type="slidenum">
              <a:rPr lang="en-AU" smtClean="0"/>
              <a:t>‹#›</a:t>
            </a:fld>
            <a:endParaRPr lang="en-AU"/>
          </a:p>
        </p:txBody>
      </p:sp>
    </p:spTree>
    <p:extLst>
      <p:ext uri="{BB962C8B-B14F-4D97-AF65-F5344CB8AC3E}">
        <p14:creationId xmlns:p14="http://schemas.microsoft.com/office/powerpoint/2010/main" val="15453539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9CE681-010B-4831-B0B7-EA09487CDE64}"/>
              </a:ext>
            </a:extLst>
          </p:cNvPr>
          <p:cNvPicPr>
            <a:picLocks noChangeAspect="1"/>
          </p:cNvPicPr>
          <p:nvPr/>
        </p:nvPicPr>
        <p:blipFill>
          <a:blip r:embed="rId2"/>
          <a:stretch>
            <a:fillRect/>
          </a:stretch>
        </p:blipFill>
        <p:spPr>
          <a:xfrm>
            <a:off x="0" y="1823"/>
            <a:ext cx="12192000" cy="6854354"/>
          </a:xfrm>
          <a:prstGeom prst="rect">
            <a:avLst/>
          </a:prstGeom>
        </p:spPr>
      </p:pic>
      <p:sp>
        <p:nvSpPr>
          <p:cNvPr id="6" name="Freeform: Shape 5">
            <a:extLst>
              <a:ext uri="{FF2B5EF4-FFF2-40B4-BE49-F238E27FC236}">
                <a16:creationId xmlns:a16="http://schemas.microsoft.com/office/drawing/2014/main" id="{556F341A-4AE1-42E8-8AC0-A35CBFF2FFFA}"/>
              </a:ext>
            </a:extLst>
          </p:cNvPr>
          <p:cNvSpPr/>
          <p:nvPr/>
        </p:nvSpPr>
        <p:spPr>
          <a:xfrm>
            <a:off x="393403" y="318976"/>
            <a:ext cx="2658141" cy="6230680"/>
          </a:xfrm>
          <a:custGeom>
            <a:avLst/>
            <a:gdLst>
              <a:gd name="connsiteX0" fmla="*/ 0 w 2658141"/>
              <a:gd name="connsiteY0" fmla="*/ 0 h 6230680"/>
              <a:gd name="connsiteX1" fmla="*/ 1180216 w 2658141"/>
              <a:gd name="connsiteY1" fmla="*/ 0 h 6230680"/>
              <a:gd name="connsiteX2" fmla="*/ 1339704 w 2658141"/>
              <a:gd name="connsiteY2" fmla="*/ 2073350 h 6230680"/>
              <a:gd name="connsiteX3" fmla="*/ 1499192 w 2658141"/>
              <a:gd name="connsiteY3" fmla="*/ 0 h 6230680"/>
              <a:gd name="connsiteX4" fmla="*/ 2658141 w 2658141"/>
              <a:gd name="connsiteY4" fmla="*/ 0 h 6230680"/>
              <a:gd name="connsiteX5" fmla="*/ 2658141 w 2658141"/>
              <a:gd name="connsiteY5" fmla="*/ 6230680 h 6230680"/>
              <a:gd name="connsiteX6" fmla="*/ 1941343 w 2658141"/>
              <a:gd name="connsiteY6" fmla="*/ 6230680 h 6230680"/>
              <a:gd name="connsiteX7" fmla="*/ 1941343 w 2658141"/>
              <a:gd name="connsiteY7" fmla="*/ 3646968 h 6230680"/>
              <a:gd name="connsiteX8" fmla="*/ 1746943 w 2658141"/>
              <a:gd name="connsiteY8" fmla="*/ 6230680 h 6230680"/>
              <a:gd name="connsiteX9" fmla="*/ 941860 w 2658141"/>
              <a:gd name="connsiteY9" fmla="*/ 6230680 h 6230680"/>
              <a:gd name="connsiteX10" fmla="*/ 784255 w 2658141"/>
              <a:gd name="connsiteY10" fmla="*/ 4359982 h 6230680"/>
              <a:gd name="connsiteX11" fmla="*/ 729486 w 2658141"/>
              <a:gd name="connsiteY11" fmla="*/ 3636336 h 6230680"/>
              <a:gd name="connsiteX12" fmla="*/ 729486 w 2658141"/>
              <a:gd name="connsiteY12" fmla="*/ 3709898 h 6230680"/>
              <a:gd name="connsiteX13" fmla="*/ 728386 w 2658141"/>
              <a:gd name="connsiteY13" fmla="*/ 3696842 h 6230680"/>
              <a:gd name="connsiteX14" fmla="*/ 728386 w 2658141"/>
              <a:gd name="connsiteY14" fmla="*/ 6230680 h 6230680"/>
              <a:gd name="connsiteX15" fmla="*/ 0 w 2658141"/>
              <a:gd name="connsiteY15" fmla="*/ 6230680 h 6230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58141" h="6230680">
                <a:moveTo>
                  <a:pt x="0" y="0"/>
                </a:moveTo>
                <a:lnTo>
                  <a:pt x="1180216" y="0"/>
                </a:lnTo>
                <a:lnTo>
                  <a:pt x="1339704" y="2073350"/>
                </a:lnTo>
                <a:lnTo>
                  <a:pt x="1499192" y="0"/>
                </a:lnTo>
                <a:lnTo>
                  <a:pt x="2658141" y="0"/>
                </a:lnTo>
                <a:lnTo>
                  <a:pt x="2658141" y="6230680"/>
                </a:lnTo>
                <a:lnTo>
                  <a:pt x="1941343" y="6230680"/>
                </a:lnTo>
                <a:lnTo>
                  <a:pt x="1941343" y="3646968"/>
                </a:lnTo>
                <a:lnTo>
                  <a:pt x="1746943" y="6230680"/>
                </a:lnTo>
                <a:lnTo>
                  <a:pt x="941860" y="6230680"/>
                </a:lnTo>
                <a:lnTo>
                  <a:pt x="784255" y="4359982"/>
                </a:lnTo>
                <a:lnTo>
                  <a:pt x="729486" y="3636336"/>
                </a:lnTo>
                <a:lnTo>
                  <a:pt x="729486" y="3709898"/>
                </a:lnTo>
                <a:lnTo>
                  <a:pt x="728386" y="3696842"/>
                </a:lnTo>
                <a:lnTo>
                  <a:pt x="728386" y="6230680"/>
                </a:lnTo>
                <a:lnTo>
                  <a:pt x="0" y="6230680"/>
                </a:lnTo>
                <a:close/>
              </a:path>
            </a:pathLst>
          </a:custGeom>
          <a:solidFill>
            <a:schemeClr val="bg1">
              <a:alpha val="60000"/>
            </a:schemeClr>
          </a:solidFill>
          <a:ln w="25400" cap="flat" cmpd="sng" algn="ctr">
            <a:noFill/>
            <a:prstDash val="solid"/>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AU" sz="1400" b="0" i="0" u="none" strike="noStrike" kern="0" cap="none" spc="0" normalizeH="0" baseline="0" noProof="0" dirty="0">
              <a:ln>
                <a:noFill/>
              </a:ln>
              <a:solidFill>
                <a:srgbClr val="FFFFFF"/>
              </a:solidFill>
              <a:effectLst/>
              <a:uLnTx/>
              <a:uFillTx/>
              <a:latin typeface="Arial"/>
              <a:ea typeface="+mn-ea"/>
              <a:cs typeface="+mn-cs"/>
              <a:sym typeface="Arial"/>
            </a:endParaRPr>
          </a:p>
        </p:txBody>
      </p:sp>
      <p:pic>
        <p:nvPicPr>
          <p:cNvPr id="8" name="Picture 7">
            <a:extLst>
              <a:ext uri="{FF2B5EF4-FFF2-40B4-BE49-F238E27FC236}">
                <a16:creationId xmlns:a16="http://schemas.microsoft.com/office/drawing/2014/main" id="{0A488F87-1197-471A-B44E-DB7CDC810CD0}"/>
              </a:ext>
            </a:extLst>
          </p:cNvPr>
          <p:cNvPicPr>
            <a:picLocks noChangeAspect="1"/>
          </p:cNvPicPr>
          <p:nvPr/>
        </p:nvPicPr>
        <p:blipFill rotWithShape="1">
          <a:blip r:embed="rId2"/>
          <a:srcRect l="63454" t="7318" b="33527"/>
          <a:stretch/>
        </p:blipFill>
        <p:spPr>
          <a:xfrm>
            <a:off x="7736304" y="505326"/>
            <a:ext cx="4455695" cy="4054642"/>
          </a:xfrm>
          <a:prstGeom prst="rect">
            <a:avLst/>
          </a:prstGeom>
        </p:spPr>
      </p:pic>
      <p:pic>
        <p:nvPicPr>
          <p:cNvPr id="7" name="Picture 6" descr="Registry configuration summary | Monash Compulsory Units Portal (CUP)">
            <a:extLst>
              <a:ext uri="{FF2B5EF4-FFF2-40B4-BE49-F238E27FC236}">
                <a16:creationId xmlns:a16="http://schemas.microsoft.com/office/drawing/2014/main" id="{EBA1EB12-C8B5-4D38-A22A-F8EA37CBD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8523" y="422390"/>
            <a:ext cx="2091086" cy="66076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43AD52F1-D9EC-43D5-B468-7D23A6262D47}"/>
              </a:ext>
            </a:extLst>
          </p:cNvPr>
          <p:cNvSpPr/>
          <p:nvPr/>
        </p:nvSpPr>
        <p:spPr>
          <a:xfrm>
            <a:off x="4818185" y="3077307"/>
            <a:ext cx="6570979" cy="1403610"/>
          </a:xfrm>
          <a:prstGeom prst="rect">
            <a:avLst/>
          </a:prstGeom>
          <a:solidFill>
            <a:schemeClr val="accent4">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0" b="1"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rPr>
              <a:t>STATISTICS</a:t>
            </a:r>
            <a:endParaRPr kumimoji="0" lang="en-AU" sz="120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gency FB" panose="020B0503020202020204" pitchFamily="34" charset="0"/>
              <a:ea typeface="+mn-ea"/>
              <a:cs typeface="+mn-cs"/>
              <a:sym typeface="Arial"/>
            </a:endParaRPr>
          </a:p>
        </p:txBody>
      </p:sp>
      <p:sp>
        <p:nvSpPr>
          <p:cNvPr id="13" name="Rectangle 12">
            <a:extLst>
              <a:ext uri="{FF2B5EF4-FFF2-40B4-BE49-F238E27FC236}">
                <a16:creationId xmlns:a16="http://schemas.microsoft.com/office/drawing/2014/main" id="{F11B6F01-F247-4E5E-AC9E-2D11F2681474}"/>
              </a:ext>
            </a:extLst>
          </p:cNvPr>
          <p:cNvSpPr/>
          <p:nvPr/>
        </p:nvSpPr>
        <p:spPr>
          <a:xfrm>
            <a:off x="6096000" y="4553950"/>
            <a:ext cx="5293165" cy="500420"/>
          </a:xfrm>
          <a:prstGeom prst="rect">
            <a:avLst/>
          </a:prstGeom>
          <a:solidFill>
            <a:schemeClr val="accent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rPr>
              <a:t>Session 1: Introduction to Statistics &amp; Data</a:t>
            </a:r>
            <a:endParaRPr kumimoji="0" lang="en-AU" sz="2600" b="0" i="0" u="none" strike="noStrike" kern="0" cap="none" spc="0" normalizeH="0" baseline="0" noProof="0" dirty="0">
              <a:ln>
                <a:noFill/>
              </a:ln>
              <a:solidFill>
                <a:srgbClr val="FFFFFF"/>
              </a:solidFill>
              <a:effectLst>
                <a:outerShdw blurRad="50800" dist="38100" dir="2700000" algn="tl" rotWithShape="0">
                  <a:prstClr val="black">
                    <a:alpha val="40000"/>
                  </a:prstClr>
                </a:outerShdw>
              </a:effectLst>
              <a:uLnTx/>
              <a:uFillTx/>
              <a:latin typeface="Arial Narrow" panose="020B0606020202030204" pitchFamily="34" charset="0"/>
              <a:ea typeface="+mn-ea"/>
              <a:cs typeface="+mn-cs"/>
              <a:sym typeface="Arial"/>
            </a:endParaRPr>
          </a:p>
        </p:txBody>
      </p:sp>
    </p:spTree>
    <p:extLst>
      <p:ext uri="{BB962C8B-B14F-4D97-AF65-F5344CB8AC3E}">
        <p14:creationId xmlns:p14="http://schemas.microsoft.com/office/powerpoint/2010/main" val="197262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repeatCount="indefinite" fill="hold" nodeType="withEffect">
                                  <p:stCondLst>
                                    <p:cond delay="0"/>
                                  </p:stCondLst>
                                  <p:childTnLst>
                                    <p:animEffect transition="out" filter="fade">
                                      <p:cBhvr>
                                        <p:cTn id="6" dur="2000" tmFilter="0, 0; .2, .5; .8, .5; 1, 0"/>
                                        <p:tgtEl>
                                          <p:spTgt spid="8"/>
                                        </p:tgtEl>
                                      </p:cBhvr>
                                    </p:animEffect>
                                    <p:animScale>
                                      <p:cBhvr>
                                        <p:cTn id="7" dur="100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What is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5188689" cy="4832092"/>
          </a:xfrm>
          <a:prstGeom prst="rect">
            <a:avLst/>
          </a:prstGeom>
          <a:noFill/>
        </p:spPr>
        <p:txBody>
          <a:bodyPr wrap="square" rtlCol="0">
            <a:spAutoFit/>
          </a:bodyPr>
          <a:lstStyle/>
          <a:p>
            <a:r>
              <a:rPr lang="en-AU" sz="2400" dirty="0">
                <a:latin typeface="Arial Narrow" panose="020B0606020202030204" pitchFamily="34" charset="0"/>
              </a:rPr>
              <a:t>When people hear the word “statistics”, they tend to think about:</a:t>
            </a:r>
          </a:p>
          <a:p>
            <a:endParaRPr lang="en-AU" sz="1000" dirty="0">
              <a:latin typeface="Arial Narrow" panose="020B0606020202030204" pitchFamily="34" charset="0"/>
            </a:endParaRPr>
          </a:p>
          <a:p>
            <a:pPr marL="342900" indent="-342900">
              <a:buFont typeface="Arial" panose="020B0604020202020204" pitchFamily="34" charset="0"/>
              <a:buChar char="•"/>
            </a:pPr>
            <a:r>
              <a:rPr lang="en-AU" sz="2400" dirty="0">
                <a:latin typeface="Arial Narrow" panose="020B0606020202030204" pitchFamily="34" charset="0"/>
              </a:rPr>
              <a:t>Numbers</a:t>
            </a:r>
          </a:p>
          <a:p>
            <a:pPr marL="342900" indent="-342900">
              <a:buFont typeface="Arial" panose="020B0604020202020204" pitchFamily="34" charset="0"/>
              <a:buChar char="•"/>
            </a:pPr>
            <a:r>
              <a:rPr lang="en-AU" sz="2400" dirty="0">
                <a:latin typeface="Arial Narrow" panose="020B0606020202030204" pitchFamily="34" charset="0"/>
              </a:rPr>
              <a:t>Formulas</a:t>
            </a:r>
          </a:p>
          <a:p>
            <a:pPr marL="342900" indent="-342900">
              <a:buFont typeface="Arial" panose="020B0604020202020204" pitchFamily="34" charset="0"/>
              <a:buChar char="•"/>
            </a:pPr>
            <a:r>
              <a:rPr lang="en-AU" sz="2400" dirty="0">
                <a:latin typeface="Arial Narrow" panose="020B0606020202030204" pitchFamily="34" charset="0"/>
              </a:rPr>
              <a:t>Calculations</a:t>
            </a:r>
          </a:p>
          <a:p>
            <a:pPr marL="342900" indent="-342900">
              <a:buFont typeface="Arial" panose="020B0604020202020204" pitchFamily="34" charset="0"/>
              <a:buChar char="•"/>
            </a:pPr>
            <a:r>
              <a:rPr lang="en-AU" sz="2400" dirty="0">
                <a:latin typeface="Arial Narrow" panose="020B0606020202030204" pitchFamily="34" charset="0"/>
              </a:rPr>
              <a:t>Tables</a:t>
            </a:r>
          </a:p>
          <a:p>
            <a:pPr marL="342900" indent="-342900">
              <a:buFont typeface="Arial" panose="020B0604020202020204" pitchFamily="34" charset="0"/>
              <a:buChar char="•"/>
            </a:pPr>
            <a:r>
              <a:rPr lang="en-AU" sz="2400" dirty="0">
                <a:latin typeface="Arial Narrow" panose="020B0606020202030204" pitchFamily="34" charset="0"/>
              </a:rPr>
              <a:t>Graphs</a:t>
            </a:r>
          </a:p>
          <a:p>
            <a:pPr marL="342900" indent="-342900">
              <a:buFont typeface="Arial" panose="020B0604020202020204" pitchFamily="34" charset="0"/>
              <a:buChar char="•"/>
            </a:pPr>
            <a:r>
              <a:rPr lang="en-AU" sz="2400" dirty="0">
                <a:latin typeface="Arial Narrow" panose="020B0606020202030204" pitchFamily="34" charset="0"/>
              </a:rPr>
              <a:t>Averages</a:t>
            </a:r>
          </a:p>
          <a:p>
            <a:pPr marL="342900" indent="-342900">
              <a:buFont typeface="Arial" panose="020B0604020202020204" pitchFamily="34" charset="0"/>
              <a:buChar char="•"/>
            </a:pPr>
            <a:r>
              <a:rPr lang="en-AU" sz="2400" dirty="0">
                <a:latin typeface="Arial Narrow" panose="020B0606020202030204" pitchFamily="34" charset="0"/>
              </a:rPr>
              <a:t>Percentages</a:t>
            </a:r>
          </a:p>
          <a:p>
            <a:pPr marL="342900" indent="-342900">
              <a:buFont typeface="Arial" panose="020B0604020202020204" pitchFamily="34" charset="0"/>
              <a:buChar char="•"/>
            </a:pPr>
            <a:endParaRPr lang="en-AU" sz="1000" dirty="0">
              <a:latin typeface="Arial Narrow" panose="020B0606020202030204" pitchFamily="34" charset="0"/>
            </a:endParaRPr>
          </a:p>
          <a:p>
            <a:r>
              <a:rPr lang="en-AU" sz="2400" dirty="0">
                <a:latin typeface="Arial Narrow" panose="020B0606020202030204" pitchFamily="34" charset="0"/>
              </a:rPr>
              <a:t>However, statistics is </a:t>
            </a:r>
            <a:r>
              <a:rPr lang="en-AU" sz="2400" u="sng" dirty="0">
                <a:latin typeface="Arial Narrow" panose="020B0606020202030204" pitchFamily="34" charset="0"/>
              </a:rPr>
              <a:t>not</a:t>
            </a:r>
            <a:r>
              <a:rPr lang="en-AU" sz="2400" dirty="0">
                <a:latin typeface="Arial Narrow" panose="020B0606020202030204" pitchFamily="34" charset="0"/>
              </a:rPr>
              <a:t> simply the calculation of numbers, and the art of making graphs look pretty.</a:t>
            </a:r>
          </a:p>
        </p:txBody>
      </p:sp>
      <p:pic>
        <p:nvPicPr>
          <p:cNvPr id="17" name="Picture 16">
            <a:extLst>
              <a:ext uri="{FF2B5EF4-FFF2-40B4-BE49-F238E27FC236}">
                <a16:creationId xmlns:a16="http://schemas.microsoft.com/office/drawing/2014/main" id="{C4882EA2-8155-4468-9F9F-5DD08F47BB0D}"/>
              </a:ext>
            </a:extLst>
          </p:cNvPr>
          <p:cNvPicPr>
            <a:picLocks noChangeAspect="1"/>
          </p:cNvPicPr>
          <p:nvPr/>
        </p:nvPicPr>
        <p:blipFill rotWithShape="1">
          <a:blip r:embed="rId3">
            <a:alphaModFix/>
          </a:blip>
          <a:srcRect r="31800"/>
          <a:stretch/>
        </p:blipFill>
        <p:spPr>
          <a:xfrm>
            <a:off x="5695507" y="967562"/>
            <a:ext cx="6149164" cy="507173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166963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What is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7623545" cy="5262979"/>
          </a:xfrm>
          <a:prstGeom prst="rect">
            <a:avLst/>
          </a:prstGeom>
          <a:noFill/>
        </p:spPr>
        <p:txBody>
          <a:bodyPr wrap="square" rtlCol="0">
            <a:spAutoFit/>
          </a:bodyPr>
          <a:lstStyle/>
          <a:p>
            <a:r>
              <a:rPr lang="en-AU" sz="2400" dirty="0">
                <a:latin typeface="Arial Narrow" panose="020B0606020202030204" pitchFamily="34" charset="0"/>
              </a:rPr>
              <a:t>Statistics is the process of using data to:</a:t>
            </a:r>
          </a:p>
          <a:p>
            <a:pPr marL="342900" indent="-342900">
              <a:buFont typeface="Arial" panose="020B0604020202020204" pitchFamily="34" charset="0"/>
              <a:buChar char="•"/>
            </a:pPr>
            <a:r>
              <a:rPr lang="en-AU" sz="2400" dirty="0">
                <a:latin typeface="Arial Narrow" panose="020B0606020202030204" pitchFamily="34" charset="0"/>
              </a:rPr>
              <a:t>Answer questions</a:t>
            </a:r>
          </a:p>
          <a:p>
            <a:pPr marL="342900" indent="-342900">
              <a:buFont typeface="Arial" panose="020B0604020202020204" pitchFamily="34" charset="0"/>
              <a:buChar char="•"/>
            </a:pPr>
            <a:r>
              <a:rPr lang="en-AU" sz="2400" dirty="0">
                <a:latin typeface="Arial Narrow" panose="020B0606020202030204" pitchFamily="34" charset="0"/>
              </a:rPr>
              <a:t>Learn about the world</a:t>
            </a:r>
          </a:p>
          <a:p>
            <a:pPr marL="342900" indent="-342900">
              <a:buFont typeface="Arial" panose="020B0604020202020204" pitchFamily="34" charset="0"/>
              <a:buChar char="•"/>
            </a:pPr>
            <a:r>
              <a:rPr lang="en-AU" sz="2400" dirty="0">
                <a:latin typeface="Arial Narrow" panose="020B0606020202030204" pitchFamily="34" charset="0"/>
              </a:rPr>
              <a:t>Make decisions when we do not have complete information.</a:t>
            </a:r>
          </a:p>
          <a:p>
            <a:endParaRPr lang="en-AU" sz="2400" dirty="0">
              <a:latin typeface="Arial Narrow" panose="020B0606020202030204" pitchFamily="34" charset="0"/>
            </a:endParaRPr>
          </a:p>
          <a:p>
            <a:r>
              <a:rPr lang="en-AU" sz="2400" dirty="0">
                <a:latin typeface="Arial Narrow" panose="020B0606020202030204" pitchFamily="34" charset="0"/>
              </a:rPr>
              <a:t>For example, Statistics can help us to </a:t>
            </a:r>
            <a:r>
              <a:rPr lang="en-AU" sz="2400" u="sng" dirty="0">
                <a:latin typeface="Arial Narrow" panose="020B0606020202030204" pitchFamily="34" charset="0"/>
              </a:rPr>
              <a:t>answer questions</a:t>
            </a:r>
            <a:r>
              <a:rPr lang="en-AU" sz="2400" dirty="0">
                <a:latin typeface="Arial Narrow" panose="020B0606020202030204" pitchFamily="34" charset="0"/>
              </a:rPr>
              <a:t> such as:</a:t>
            </a:r>
          </a:p>
          <a:p>
            <a:pPr marL="457200" indent="-457200">
              <a:buFont typeface="+mj-lt"/>
              <a:buAutoNum type="arabicPeriod"/>
            </a:pPr>
            <a:r>
              <a:rPr lang="en-US" sz="2400" dirty="0">
                <a:latin typeface="Arial Narrow" panose="020B0606020202030204" pitchFamily="34" charset="0"/>
              </a:rPr>
              <a:t>Is a new advertising campaign increasing sales?</a:t>
            </a:r>
          </a:p>
          <a:p>
            <a:pPr marL="457200" indent="-457200">
              <a:buFont typeface="+mj-lt"/>
              <a:buAutoNum type="arabicPeriod"/>
            </a:pPr>
            <a:r>
              <a:rPr lang="en-US" sz="2400" dirty="0">
                <a:latin typeface="Arial Narrow" panose="020B0606020202030204" pitchFamily="34" charset="0"/>
              </a:rPr>
              <a:t>Which customers are most likely to stop using a service?</a:t>
            </a:r>
          </a:p>
          <a:p>
            <a:pPr marL="457200" indent="-457200">
              <a:buFont typeface="+mj-lt"/>
              <a:buAutoNum type="arabicPeriod"/>
            </a:pPr>
            <a:r>
              <a:rPr lang="en-US" sz="2400" dirty="0">
                <a:latin typeface="Arial Narrow" panose="020B0606020202030204" pitchFamily="34" charset="0"/>
              </a:rPr>
              <a:t>Does a new medical treatment work?</a:t>
            </a:r>
          </a:p>
          <a:p>
            <a:pPr marL="457200" indent="-457200">
              <a:buFont typeface="+mj-lt"/>
              <a:buAutoNum type="arabicPeriod"/>
            </a:pPr>
            <a:r>
              <a:rPr lang="en-US" sz="2400" dirty="0">
                <a:latin typeface="Arial Narrow" panose="020B0606020202030204" pitchFamily="34" charset="0"/>
              </a:rPr>
              <a:t>Is a change in customer satisfaction meaningful, or could it simply be random variation?</a:t>
            </a:r>
          </a:p>
          <a:p>
            <a:pPr marL="457200" indent="-457200">
              <a:buFont typeface="+mj-lt"/>
              <a:buAutoNum type="arabicPeriod"/>
            </a:pPr>
            <a:r>
              <a:rPr lang="en-US" sz="2400" dirty="0">
                <a:latin typeface="Arial Narrow" panose="020B0606020202030204" pitchFamily="34" charset="0"/>
              </a:rPr>
              <a:t>What is likely to happen in the future?</a:t>
            </a:r>
            <a:endParaRPr lang="en-AU" sz="2400" dirty="0">
              <a:latin typeface="Arial Narrow" panose="020B0606020202030204" pitchFamily="34" charset="0"/>
            </a:endParaRPr>
          </a:p>
          <a:p>
            <a:endParaRPr lang="en-AU" sz="2400" dirty="0">
              <a:latin typeface="Arial Narrow" panose="020B0606020202030204" pitchFamily="34" charset="0"/>
            </a:endParaRPr>
          </a:p>
          <a:p>
            <a:pPr marL="342900" indent="-342900">
              <a:buFont typeface="Arial" panose="020B0604020202020204" pitchFamily="34" charset="0"/>
              <a:buChar char="•"/>
            </a:pPr>
            <a:endParaRPr lang="en-AU" sz="2400" dirty="0">
              <a:latin typeface="Arial Narrow" panose="020B0606020202030204" pitchFamily="34" charset="0"/>
            </a:endParaRPr>
          </a:p>
        </p:txBody>
      </p:sp>
      <p:pic>
        <p:nvPicPr>
          <p:cNvPr id="1028" name="Picture 4" descr="Increase-Graph Icons - Free SVG &amp; PNG Increase-Graph Images - Noun Project">
            <a:extLst>
              <a:ext uri="{FF2B5EF4-FFF2-40B4-BE49-F238E27FC236}">
                <a16:creationId xmlns:a16="http://schemas.microsoft.com/office/drawing/2014/main" id="{FE5BC657-9DCA-4775-90F9-A9556C70FA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7965" y="2392325"/>
            <a:ext cx="3857845" cy="3857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2669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pic>
        <p:nvPicPr>
          <p:cNvPr id="6" name="Picture 2" descr="3.1: From Background Question to Research Question – Digital Information  Skills for Community College Researchers">
            <a:extLst>
              <a:ext uri="{FF2B5EF4-FFF2-40B4-BE49-F238E27FC236}">
                <a16:creationId xmlns:a16="http://schemas.microsoft.com/office/drawing/2014/main" id="{14777D75-1300-4B2B-B438-68BBA0FFAD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1992"/>
          <a:stretch/>
        </p:blipFill>
        <p:spPr bwMode="auto">
          <a:xfrm>
            <a:off x="8555665" y="1435395"/>
            <a:ext cx="3607981" cy="46251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Why study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4" y="914400"/>
            <a:ext cx="8325294" cy="5355312"/>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Arial Narrow" panose="020B0606020202030204" pitchFamily="34" charset="0"/>
              </a:rPr>
              <a:t>For students studying quantitative courses (e.g. mathematical sciences, economics and econometrics, etc.), they will naturally take </a:t>
            </a:r>
            <a:r>
              <a:rPr lang="en-AU" sz="2400" u="sng" dirty="0">
                <a:latin typeface="Arial Narrow" panose="020B0606020202030204" pitchFamily="34" charset="0"/>
              </a:rPr>
              <a:t>several</a:t>
            </a:r>
            <a:r>
              <a:rPr lang="en-AU" sz="2400" dirty="0">
                <a:latin typeface="Arial Narrow" panose="020B0606020202030204" pitchFamily="34" charset="0"/>
              </a:rPr>
              <a:t> statistics units during their studies.</a:t>
            </a:r>
          </a:p>
          <a:p>
            <a:pPr marL="342900" indent="-342900">
              <a:buFont typeface="Arial" panose="020B0604020202020204" pitchFamily="34" charset="0"/>
              <a:buChar char="•"/>
            </a:pPr>
            <a:endParaRPr lang="en-AU" dirty="0">
              <a:latin typeface="Arial Narrow" panose="020B0606020202030204" pitchFamily="34" charset="0"/>
            </a:endParaRPr>
          </a:p>
          <a:p>
            <a:pPr marL="342900" indent="-342900">
              <a:buFont typeface="Arial" panose="020B0604020202020204" pitchFamily="34" charset="0"/>
              <a:buChar char="•"/>
            </a:pPr>
            <a:r>
              <a:rPr lang="en-AU" sz="2400" dirty="0">
                <a:latin typeface="Arial Narrow" panose="020B0606020202030204" pitchFamily="34" charset="0"/>
              </a:rPr>
              <a:t>Students in other courses (e.g. Medicine, Psychology, Sport Science, Engineering, IT, Data Science, etc.) will usually take </a:t>
            </a:r>
            <a:r>
              <a:rPr lang="en-AU" sz="2400" u="sng" dirty="0">
                <a:latin typeface="Arial Narrow" panose="020B0606020202030204" pitchFamily="34" charset="0"/>
              </a:rPr>
              <a:t>at least</a:t>
            </a:r>
            <a:r>
              <a:rPr lang="en-AU" sz="2400" dirty="0">
                <a:latin typeface="Arial Narrow" panose="020B0606020202030204" pitchFamily="34" charset="0"/>
              </a:rPr>
              <a:t> one statistics unit during their degree.</a:t>
            </a:r>
          </a:p>
          <a:p>
            <a:pPr marL="342900" indent="-342900">
              <a:buFont typeface="Arial" panose="020B0604020202020204" pitchFamily="34" charset="0"/>
              <a:buChar char="•"/>
            </a:pPr>
            <a:endParaRPr lang="en-AU" dirty="0">
              <a:latin typeface="Arial Narrow" panose="020B0606020202030204" pitchFamily="34" charset="0"/>
            </a:endParaRPr>
          </a:p>
          <a:p>
            <a:pPr marL="342900" indent="-342900">
              <a:buFont typeface="Arial" panose="020B0604020202020204" pitchFamily="34" charset="0"/>
              <a:buChar char="•"/>
            </a:pPr>
            <a:r>
              <a:rPr lang="en-AU" sz="2400" dirty="0">
                <a:latin typeface="Arial Narrow" panose="020B0606020202030204" pitchFamily="34" charset="0"/>
              </a:rPr>
              <a:t>The question becomes, why do </a:t>
            </a:r>
            <a:r>
              <a:rPr lang="en-AU" sz="2400" u="sng" dirty="0">
                <a:latin typeface="Arial Narrow" panose="020B0606020202030204" pitchFamily="34" charset="0"/>
              </a:rPr>
              <a:t>all</a:t>
            </a:r>
            <a:r>
              <a:rPr lang="en-AU" sz="2400" dirty="0">
                <a:latin typeface="Arial Narrow" panose="020B0606020202030204" pitchFamily="34" charset="0"/>
              </a:rPr>
              <a:t> students need statistical training at some point in their degree?</a:t>
            </a:r>
          </a:p>
          <a:p>
            <a:pPr marL="342900" indent="-342900">
              <a:buFont typeface="Arial" panose="020B0604020202020204" pitchFamily="34" charset="0"/>
              <a:buChar char="•"/>
            </a:pPr>
            <a:endParaRPr lang="en-AU"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This is because statistics teaches you not just how to calculate but how to </a:t>
            </a:r>
            <a:r>
              <a:rPr lang="en-US" sz="2400" b="1" u="sng" dirty="0">
                <a:latin typeface="Arial Narrow" panose="020B0606020202030204" pitchFamily="34" charset="0"/>
              </a:rPr>
              <a:t>think</a:t>
            </a:r>
            <a:r>
              <a:rPr lang="en-US" sz="2400" dirty="0">
                <a:latin typeface="Arial Narrow" panose="020B0606020202030204" pitchFamily="34" charset="0"/>
              </a:rPr>
              <a:t>: how to challenge claims, test assumptions, and make sense of messy real-world data. </a:t>
            </a:r>
          </a:p>
          <a:p>
            <a:pPr marL="342900" indent="-342900">
              <a:buFont typeface="Arial" panose="020B0604020202020204" pitchFamily="34" charset="0"/>
              <a:buChar char="•"/>
            </a:pPr>
            <a:endParaRPr lang="en-AU" sz="2400" dirty="0">
              <a:latin typeface="Arial Narrow" panose="020B0606020202030204" pitchFamily="34" charset="0"/>
            </a:endParaRPr>
          </a:p>
        </p:txBody>
      </p:sp>
    </p:spTree>
    <p:extLst>
      <p:ext uri="{BB962C8B-B14F-4D97-AF65-F5344CB8AC3E}">
        <p14:creationId xmlns:p14="http://schemas.microsoft.com/office/powerpoint/2010/main" val="27306272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Why study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4" y="914400"/>
            <a:ext cx="7591646" cy="5632311"/>
          </a:xfrm>
          <a:prstGeom prst="rect">
            <a:avLst/>
          </a:prstGeom>
          <a:noFill/>
        </p:spPr>
        <p:txBody>
          <a:bodyPr wrap="square" rtlCol="0">
            <a:spAutoFit/>
          </a:bodyPr>
          <a:lstStyle/>
          <a:p>
            <a:pPr marL="342900" indent="-342900">
              <a:buFont typeface="Arial" panose="020B0604020202020204" pitchFamily="34" charset="0"/>
              <a:buChar char="•"/>
            </a:pPr>
            <a:r>
              <a:rPr lang="en-AU" sz="2400" dirty="0">
                <a:latin typeface="Arial Narrow" panose="020B0606020202030204" pitchFamily="34" charset="0"/>
              </a:rPr>
              <a:t>On 28 January 1986, the space shuttle </a:t>
            </a:r>
            <a:r>
              <a:rPr lang="en-AU" sz="2400" i="1" dirty="0">
                <a:latin typeface="Arial Narrow" panose="020B0606020202030204" pitchFamily="34" charset="0"/>
              </a:rPr>
              <a:t>Challenger</a:t>
            </a:r>
            <a:r>
              <a:rPr lang="en-AU" sz="2400" dirty="0">
                <a:latin typeface="Arial Narrow" panose="020B0606020202030204" pitchFamily="34" charset="0"/>
              </a:rPr>
              <a:t> exploded only about 70s after launch. This disaster was viewed by millions of people on live television.</a:t>
            </a:r>
          </a:p>
          <a:p>
            <a:pPr marL="342900" indent="-342900">
              <a:buFont typeface="Arial" panose="020B0604020202020204" pitchFamily="34" charset="0"/>
              <a:buChar char="•"/>
            </a:pPr>
            <a:r>
              <a:rPr lang="en-AU" sz="2400" dirty="0">
                <a:latin typeface="Arial Narrow" panose="020B0606020202030204" pitchFamily="34" charset="0"/>
              </a:rPr>
              <a:t>Based upon previous tests:</a:t>
            </a:r>
          </a:p>
          <a:p>
            <a:pPr marL="800100" lvl="1" indent="-342900">
              <a:buFont typeface="Courier New" panose="02070309020205020404" pitchFamily="49" charset="0"/>
              <a:buChar char="o"/>
            </a:pPr>
            <a:r>
              <a:rPr lang="en-US" sz="2400" dirty="0">
                <a:latin typeface="Arial Narrow" panose="020B0606020202030204" pitchFamily="34" charset="0"/>
              </a:rPr>
              <a:t>Engineers had warned that cold temperatures could affect the rocket’s O-ring seals.</a:t>
            </a:r>
          </a:p>
          <a:p>
            <a:pPr marL="800100" lvl="1" indent="-342900">
              <a:buFont typeface="Courier New" panose="02070309020205020404" pitchFamily="49" charset="0"/>
              <a:buChar char="o"/>
            </a:pPr>
            <a:r>
              <a:rPr lang="en-US" sz="2400" dirty="0">
                <a:latin typeface="Arial Narrow" panose="020B0606020202030204" pitchFamily="34" charset="0"/>
              </a:rPr>
              <a:t>The analysis focused on flights with damage, leaving out flights with zero damage. That made the relationship between temperature and damage look unclear. </a:t>
            </a:r>
            <a:endParaRPr lang="en-AU"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To assess the risk, the right statistical model would use all flights to estimate how the probability of damage changes with temperature.</a:t>
            </a:r>
          </a:p>
          <a:p>
            <a:pPr marL="342900" indent="-342900">
              <a:buFont typeface="Arial" panose="020B0604020202020204" pitchFamily="34" charset="0"/>
              <a:buChar char="•"/>
            </a:pPr>
            <a:r>
              <a:rPr lang="en-US" sz="2400" dirty="0">
                <a:latin typeface="Arial Narrow" panose="020B0606020202030204" pitchFamily="34" charset="0"/>
              </a:rPr>
              <a:t>NASA did not use the right statistical model and went ahead with the launch anyway.</a:t>
            </a:r>
            <a:endParaRPr lang="en-AU" sz="2400" dirty="0">
              <a:latin typeface="Arial Narrow" panose="020B0606020202030204" pitchFamily="34" charset="0"/>
            </a:endParaRPr>
          </a:p>
          <a:p>
            <a:pPr marL="342900" indent="-342900">
              <a:buFont typeface="Arial" panose="020B0604020202020204" pitchFamily="34" charset="0"/>
              <a:buChar char="•"/>
            </a:pPr>
            <a:endParaRPr lang="en-AU" sz="2400" dirty="0">
              <a:latin typeface="Arial Narrow" panose="020B0606020202030204" pitchFamily="34" charset="0"/>
            </a:endParaRPr>
          </a:p>
        </p:txBody>
      </p:sp>
      <p:pic>
        <p:nvPicPr>
          <p:cNvPr id="3074" name="Picture 2" descr="Chronicle Covers: When the Challenger explosion shook us all">
            <a:extLst>
              <a:ext uri="{FF2B5EF4-FFF2-40B4-BE49-F238E27FC236}">
                <a16:creationId xmlns:a16="http://schemas.microsoft.com/office/drawing/2014/main" id="{5911B520-0009-4539-8D7F-3B4B5FEDA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3405" y="776177"/>
            <a:ext cx="39624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2413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Why study Statistics?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4" y="914400"/>
            <a:ext cx="11451266" cy="563231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Not everyone here is going to work at NASA or be in a role where your decisions could cost lives.</a:t>
            </a:r>
          </a:p>
          <a:p>
            <a:pPr marL="342900" indent="-342900">
              <a:buFont typeface="Arial" panose="020B0604020202020204" pitchFamily="34" charset="0"/>
              <a:buChar char="•"/>
            </a:pPr>
            <a:r>
              <a:rPr lang="en-US" sz="2400" dirty="0">
                <a:latin typeface="Arial Narrow" panose="020B0606020202030204" pitchFamily="34" charset="0"/>
              </a:rPr>
              <a:t>However, every one of you will be expected to make decisions using data, whether you’re: </a:t>
            </a:r>
          </a:p>
          <a:p>
            <a:pPr marL="800100" lvl="1" indent="-342900">
              <a:buFont typeface="Arial" panose="020B0604020202020204" pitchFamily="34" charset="0"/>
              <a:buChar char="•"/>
            </a:pPr>
            <a:r>
              <a:rPr lang="en-US" sz="2400" dirty="0">
                <a:latin typeface="Arial Narrow" panose="020B0606020202030204" pitchFamily="34" charset="0"/>
              </a:rPr>
              <a:t>managing a budget, </a:t>
            </a:r>
          </a:p>
          <a:p>
            <a:pPr marL="800100" lvl="1" indent="-342900">
              <a:buFont typeface="Arial" panose="020B0604020202020204" pitchFamily="34" charset="0"/>
              <a:buChar char="•"/>
            </a:pPr>
            <a:r>
              <a:rPr lang="en-US" sz="2400" dirty="0">
                <a:latin typeface="Arial Narrow" panose="020B0606020202030204" pitchFamily="34" charset="0"/>
              </a:rPr>
              <a:t>launching a product, </a:t>
            </a:r>
          </a:p>
          <a:p>
            <a:pPr marL="800100" lvl="1" indent="-342900">
              <a:buFont typeface="Arial" panose="020B0604020202020204" pitchFamily="34" charset="0"/>
              <a:buChar char="•"/>
            </a:pPr>
            <a:r>
              <a:rPr lang="en-US" sz="2400" dirty="0">
                <a:latin typeface="Arial Narrow" panose="020B0606020202030204" pitchFamily="34" charset="0"/>
              </a:rPr>
              <a:t>analyzing customer feedback, or </a:t>
            </a:r>
          </a:p>
          <a:p>
            <a:pPr marL="800100" lvl="1" indent="-342900">
              <a:buFont typeface="Arial" panose="020B0604020202020204" pitchFamily="34" charset="0"/>
              <a:buChar char="•"/>
            </a:pPr>
            <a:r>
              <a:rPr lang="en-US" sz="2400" dirty="0">
                <a:latin typeface="Arial Narrow" panose="020B0606020202030204" pitchFamily="34" charset="0"/>
              </a:rPr>
              <a:t>pitching a new strategy to stakeholders.</a:t>
            </a:r>
          </a:p>
          <a:p>
            <a:pPr marL="800100" lvl="1"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Inaccurate assumptions, poor interpretation of trends, or blindly trusting a single number without questioning where it came from, these mistakes won’t make the news like the Challenger disaster did, but they can cost your company money, credibility, or opportunity. </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And more importantly, they can damage your own confidence and reputation as a professional.</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endParaRPr lang="en-AU" sz="2400" dirty="0">
              <a:latin typeface="Arial Narrow" panose="020B0606020202030204" pitchFamily="34" charset="0"/>
            </a:endParaRPr>
          </a:p>
        </p:txBody>
      </p:sp>
    </p:spTree>
    <p:extLst>
      <p:ext uri="{BB962C8B-B14F-4D97-AF65-F5344CB8AC3E}">
        <p14:creationId xmlns:p14="http://schemas.microsoft.com/office/powerpoint/2010/main" val="3122111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Data and Data Tables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3" y="914400"/>
            <a:ext cx="6815469"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Modern statistics focuses on using data and analytics to answer questions, understand uncertainty and make better decisions.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In particular, modern statistics has a large focus on making decisions with data.</a:t>
            </a:r>
          </a:p>
          <a:p>
            <a:pPr marL="800100" lvl="1" indent="-342900">
              <a:buFont typeface="Arial" panose="020B0604020202020204" pitchFamily="34" charset="0"/>
              <a:buChar char="•"/>
            </a:pPr>
            <a:r>
              <a:rPr lang="en-US" sz="2400" dirty="0">
                <a:latin typeface="Arial Narrow" panose="020B0606020202030204" pitchFamily="34" charset="0"/>
              </a:rPr>
              <a:t>What </a:t>
            </a:r>
            <a:r>
              <a:rPr lang="en-US" sz="2400" dirty="0">
                <a:solidFill>
                  <a:srgbClr val="FF0000"/>
                </a:solidFill>
                <a:latin typeface="Arial Narrow" panose="020B0606020202030204" pitchFamily="34" charset="0"/>
              </a:rPr>
              <a:t>data</a:t>
            </a:r>
            <a:r>
              <a:rPr lang="en-US" sz="2400" dirty="0">
                <a:latin typeface="Arial Narrow" panose="020B0606020202030204" pitchFamily="34" charset="0"/>
              </a:rPr>
              <a:t> do we need?</a:t>
            </a:r>
          </a:p>
          <a:p>
            <a:pPr marL="800100" lvl="1" indent="-342900">
              <a:buFont typeface="Arial" panose="020B0604020202020204" pitchFamily="34" charset="0"/>
              <a:buChar char="•"/>
            </a:pPr>
            <a:r>
              <a:rPr lang="en-US" sz="2400" dirty="0">
                <a:latin typeface="Arial Narrow" panose="020B0606020202030204" pitchFamily="34" charset="0"/>
              </a:rPr>
              <a:t>How to collect the </a:t>
            </a:r>
            <a:r>
              <a:rPr lang="en-US" sz="2400" dirty="0">
                <a:solidFill>
                  <a:srgbClr val="FF0000"/>
                </a:solidFill>
                <a:latin typeface="Arial Narrow" panose="020B0606020202030204" pitchFamily="34" charset="0"/>
              </a:rPr>
              <a:t>data</a:t>
            </a:r>
            <a:r>
              <a:rPr lang="en-US" sz="2400" dirty="0">
                <a:latin typeface="Arial Narrow" panose="020B0606020202030204" pitchFamily="34" charset="0"/>
              </a:rPr>
              <a:t>?</a:t>
            </a:r>
          </a:p>
          <a:p>
            <a:pPr marL="800100" lvl="1" indent="-342900">
              <a:buFont typeface="Arial" panose="020B0604020202020204" pitchFamily="34" charset="0"/>
              <a:buChar char="•"/>
            </a:pPr>
            <a:r>
              <a:rPr lang="en-US" sz="2400" dirty="0">
                <a:latin typeface="Arial Narrow" panose="020B0606020202030204" pitchFamily="34" charset="0"/>
              </a:rPr>
              <a:t>Which methods are appropriate for analysing </a:t>
            </a:r>
            <a:r>
              <a:rPr lang="en-US" sz="2400" dirty="0">
                <a:solidFill>
                  <a:srgbClr val="FF0000"/>
                </a:solidFill>
                <a:latin typeface="Arial Narrow" panose="020B0606020202030204" pitchFamily="34" charset="0"/>
              </a:rPr>
              <a:t>data</a:t>
            </a:r>
            <a:r>
              <a:rPr lang="en-US" sz="2400" dirty="0">
                <a:latin typeface="Arial Narrow" panose="020B0606020202030204" pitchFamily="34" charset="0"/>
              </a:rPr>
              <a:t>?</a:t>
            </a:r>
          </a:p>
          <a:p>
            <a:pPr marL="800100" lvl="1" indent="-342900">
              <a:buFont typeface="Arial" panose="020B0604020202020204" pitchFamily="34" charset="0"/>
              <a:buChar char="•"/>
            </a:pPr>
            <a:r>
              <a:rPr lang="en-US" sz="2400" dirty="0">
                <a:latin typeface="Arial Narrow" panose="020B0606020202030204" pitchFamily="34" charset="0"/>
              </a:rPr>
              <a:t>What conclusions can we make with the </a:t>
            </a:r>
            <a:r>
              <a:rPr lang="en-US" sz="2400" dirty="0">
                <a:solidFill>
                  <a:srgbClr val="FF0000"/>
                </a:solidFill>
                <a:latin typeface="Arial Narrow" panose="020B0606020202030204" pitchFamily="34" charset="0"/>
              </a:rPr>
              <a:t>data</a:t>
            </a:r>
            <a:r>
              <a:rPr lang="en-US" sz="2400" dirty="0">
                <a:latin typeface="Arial Narrow" panose="020B0606020202030204" pitchFamily="34" charset="0"/>
              </a:rPr>
              <a:t>?</a:t>
            </a:r>
          </a:p>
        </p:txBody>
      </p:sp>
      <p:pic>
        <p:nvPicPr>
          <p:cNvPr id="4098" name="Picture 2" descr="Data Icon SVG Vector &amp; PNG Free Download | UXWing">
            <a:extLst>
              <a:ext uri="{FF2B5EF4-FFF2-40B4-BE49-F238E27FC236}">
                <a16:creationId xmlns:a16="http://schemas.microsoft.com/office/drawing/2014/main" id="{1BE36BEC-D3F6-45C5-B856-25737E6E4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6741" y="893134"/>
            <a:ext cx="3541771" cy="4241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59594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Data and Data Tables</a:t>
            </a:r>
          </a:p>
        </p:txBody>
      </p:sp>
      <p:sp>
        <p:nvSpPr>
          <p:cNvPr id="5" name="TextBox 4">
            <a:extLst>
              <a:ext uri="{FF2B5EF4-FFF2-40B4-BE49-F238E27FC236}">
                <a16:creationId xmlns:a16="http://schemas.microsoft.com/office/drawing/2014/main" id="{3BBBF4A9-1FF9-45CB-8257-FB748ECAEB1A}"/>
              </a:ext>
            </a:extLst>
          </p:cNvPr>
          <p:cNvSpPr txBox="1"/>
          <p:nvPr/>
        </p:nvSpPr>
        <p:spPr>
          <a:xfrm>
            <a:off x="180754" y="914400"/>
            <a:ext cx="5752214" cy="5632311"/>
          </a:xfrm>
          <a:prstGeom prst="rect">
            <a:avLst/>
          </a:prstGeom>
          <a:noFill/>
        </p:spPr>
        <p:txBody>
          <a:bodyPr wrap="square" rtlCol="0">
            <a:spAutoFit/>
          </a:bodyPr>
          <a:lstStyle/>
          <a:p>
            <a:r>
              <a:rPr lang="en-US" sz="2400" dirty="0">
                <a:latin typeface="Arial Narrow" panose="020B0606020202030204" pitchFamily="34" charset="0"/>
              </a:rPr>
              <a:t>Data are recorded pieces of information about people, objects, events or processes.</a:t>
            </a:r>
          </a:p>
          <a:p>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A university might record data about its students, including their degree, age, attendance and assessment results.</a:t>
            </a:r>
          </a:p>
          <a:p>
            <a:pPr marL="342900" indent="-342900">
              <a:buFont typeface="Arial" panose="020B0604020202020204" pitchFamily="34" charset="0"/>
              <a:buChar char="•"/>
            </a:pPr>
            <a:r>
              <a:rPr lang="en-US" sz="2400" dirty="0">
                <a:latin typeface="Arial Narrow" panose="020B0606020202030204" pitchFamily="34" charset="0"/>
              </a:rPr>
              <a:t>A business might record information about each sale, such as the product purchased, the price paid, the store location and the date of purchase.</a:t>
            </a: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A hospital might record a patient’s symptoms, test results, diagnosis and treatment outcomes.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endParaRPr lang="en-US" sz="2400" dirty="0">
              <a:latin typeface="Arial Narrow" panose="020B0606020202030204" pitchFamily="34" charset="0"/>
            </a:endParaRPr>
          </a:p>
        </p:txBody>
      </p:sp>
      <p:pic>
        <p:nvPicPr>
          <p:cNvPr id="6" name="Picture 5">
            <a:extLst>
              <a:ext uri="{FF2B5EF4-FFF2-40B4-BE49-F238E27FC236}">
                <a16:creationId xmlns:a16="http://schemas.microsoft.com/office/drawing/2014/main" id="{EBC5066E-6D72-4AC4-9F54-06622156398C}"/>
              </a:ext>
            </a:extLst>
          </p:cNvPr>
          <p:cNvPicPr>
            <a:picLocks noChangeAspect="1"/>
          </p:cNvPicPr>
          <p:nvPr/>
        </p:nvPicPr>
        <p:blipFill rotWithShape="1">
          <a:blip r:embed="rId3"/>
          <a:srcRect l="29561" t="4887" r="-1"/>
          <a:stretch/>
        </p:blipFill>
        <p:spPr>
          <a:xfrm>
            <a:off x="5869172" y="1047307"/>
            <a:ext cx="6156232" cy="4678326"/>
          </a:xfrm>
          <a:prstGeom prst="rect">
            <a:avLst/>
          </a:prstGeom>
        </p:spPr>
      </p:pic>
    </p:spTree>
    <p:extLst>
      <p:ext uri="{BB962C8B-B14F-4D97-AF65-F5344CB8AC3E}">
        <p14:creationId xmlns:p14="http://schemas.microsoft.com/office/powerpoint/2010/main" val="1694522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Data and Data Tables</a:t>
            </a:r>
          </a:p>
        </p:txBody>
      </p:sp>
      <p:pic>
        <p:nvPicPr>
          <p:cNvPr id="3" name="Picture 2">
            <a:extLst>
              <a:ext uri="{FF2B5EF4-FFF2-40B4-BE49-F238E27FC236}">
                <a16:creationId xmlns:a16="http://schemas.microsoft.com/office/drawing/2014/main" id="{258AAE7A-6464-4135-BCAA-3F9BD0FC68F4}"/>
              </a:ext>
            </a:extLst>
          </p:cNvPr>
          <p:cNvPicPr>
            <a:picLocks noChangeAspect="1"/>
          </p:cNvPicPr>
          <p:nvPr/>
        </p:nvPicPr>
        <p:blipFill rotWithShape="1">
          <a:blip r:embed="rId3"/>
          <a:srcRect l="12732" t="14419" r="15145" b="13178"/>
          <a:stretch/>
        </p:blipFill>
        <p:spPr>
          <a:xfrm>
            <a:off x="6751675" y="2124584"/>
            <a:ext cx="5124893" cy="2893984"/>
          </a:xfrm>
          <a:prstGeom prst="rect">
            <a:avLst/>
          </a:prstGeom>
        </p:spPr>
      </p:pic>
      <p:sp>
        <p:nvSpPr>
          <p:cNvPr id="7" name="TextBox 6">
            <a:extLst>
              <a:ext uri="{FF2B5EF4-FFF2-40B4-BE49-F238E27FC236}">
                <a16:creationId xmlns:a16="http://schemas.microsoft.com/office/drawing/2014/main" id="{EE87E3AA-3872-433D-BB1B-85AF2E910CB2}"/>
              </a:ext>
            </a:extLst>
          </p:cNvPr>
          <p:cNvSpPr txBox="1"/>
          <p:nvPr/>
        </p:nvSpPr>
        <p:spPr>
          <a:xfrm>
            <a:off x="180754" y="1031358"/>
            <a:ext cx="5752214"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Arial Narrow" panose="020B0606020202030204" pitchFamily="34" charset="0"/>
              </a:rPr>
              <a:t>The people, objects or events we collect information about are often called cases, observations or units.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latin typeface="Arial Narrow" panose="020B0606020202030204" pitchFamily="34" charset="0"/>
              </a:rPr>
              <a:t>The characteristics recorded for each case are called variables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When we </a:t>
            </a:r>
            <a:r>
              <a:rPr lang="en-US" sz="2400" dirty="0" err="1">
                <a:solidFill>
                  <a:schemeClr val="tx1"/>
                </a:solidFill>
                <a:latin typeface="Arial Narrow" panose="020B0606020202030204" pitchFamily="34" charset="0"/>
              </a:rPr>
              <a:t>analyse</a:t>
            </a:r>
            <a:r>
              <a:rPr lang="en-US" sz="2400" dirty="0">
                <a:solidFill>
                  <a:schemeClr val="tx1"/>
                </a:solidFill>
                <a:latin typeface="Arial Narrow" panose="020B0606020202030204" pitchFamily="34" charset="0"/>
              </a:rPr>
              <a:t> data, we need to begin by having it in a tabular format</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A good data table will have the information organised where each row represents one case, and each column is one variable.</a:t>
            </a:r>
          </a:p>
          <a:p>
            <a:pPr marL="342900" indent="-342900">
              <a:buFont typeface="Arial" panose="020B0604020202020204" pitchFamily="34" charset="0"/>
              <a:buChar char="•"/>
            </a:pPr>
            <a:endParaRPr lang="en-US" sz="2400" dirty="0">
              <a:latin typeface="Arial Narrow" panose="020B0606020202030204" pitchFamily="34" charset="0"/>
            </a:endParaRPr>
          </a:p>
        </p:txBody>
      </p:sp>
      <p:sp>
        <p:nvSpPr>
          <p:cNvPr id="10" name="Right Brace 9">
            <a:extLst>
              <a:ext uri="{FF2B5EF4-FFF2-40B4-BE49-F238E27FC236}">
                <a16:creationId xmlns:a16="http://schemas.microsoft.com/office/drawing/2014/main" id="{79150133-3CD0-4AD3-90A6-A5F3DB8651A9}"/>
              </a:ext>
            </a:extLst>
          </p:cNvPr>
          <p:cNvSpPr/>
          <p:nvPr/>
        </p:nvSpPr>
        <p:spPr>
          <a:xfrm rot="16200000">
            <a:off x="9431116" y="489061"/>
            <a:ext cx="244548" cy="28175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1" name="TextBox 10">
            <a:extLst>
              <a:ext uri="{FF2B5EF4-FFF2-40B4-BE49-F238E27FC236}">
                <a16:creationId xmlns:a16="http://schemas.microsoft.com/office/drawing/2014/main" id="{3095D707-8412-4068-BF86-0CF028CD5A7F}"/>
              </a:ext>
            </a:extLst>
          </p:cNvPr>
          <p:cNvSpPr txBox="1"/>
          <p:nvPr/>
        </p:nvSpPr>
        <p:spPr>
          <a:xfrm>
            <a:off x="7985051" y="1209433"/>
            <a:ext cx="3070071" cy="461665"/>
          </a:xfrm>
          <a:prstGeom prst="rect">
            <a:avLst/>
          </a:prstGeom>
          <a:noFill/>
        </p:spPr>
        <p:txBody>
          <a:bodyPr wrap="none" rtlCol="0">
            <a:spAutoFit/>
          </a:bodyPr>
          <a:lstStyle/>
          <a:p>
            <a:r>
              <a:rPr lang="en-AU" sz="2400" dirty="0">
                <a:solidFill>
                  <a:srgbClr val="FF0000"/>
                </a:solidFill>
                <a:latin typeface="Arial Narrow" panose="020B0606020202030204" pitchFamily="34" charset="0"/>
              </a:rPr>
              <a:t>Each column is a variable</a:t>
            </a:r>
          </a:p>
        </p:txBody>
      </p:sp>
    </p:spTree>
    <p:extLst>
      <p:ext uri="{BB962C8B-B14F-4D97-AF65-F5344CB8AC3E}">
        <p14:creationId xmlns:p14="http://schemas.microsoft.com/office/powerpoint/2010/main" val="28381088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Where does data come from?</a:t>
            </a:r>
          </a:p>
        </p:txBody>
      </p:sp>
      <p:sp>
        <p:nvSpPr>
          <p:cNvPr id="7" name="TextBox 6">
            <a:extLst>
              <a:ext uri="{FF2B5EF4-FFF2-40B4-BE49-F238E27FC236}">
                <a16:creationId xmlns:a16="http://schemas.microsoft.com/office/drawing/2014/main" id="{EE87E3AA-3872-433D-BB1B-85AF2E910CB2}"/>
              </a:ext>
            </a:extLst>
          </p:cNvPr>
          <p:cNvSpPr txBox="1"/>
          <p:nvPr/>
        </p:nvSpPr>
        <p:spPr>
          <a:xfrm>
            <a:off x="180754" y="1881963"/>
            <a:ext cx="5752214"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The researcher is directly involved in collecting the data. For example:</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a researcher might conduct a survey to understand people’s attitudes towards public transport.</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a researcher might run an experiment to compare the effectiveness of two medications.</a:t>
            </a:r>
          </a:p>
          <a:p>
            <a:pPr marL="800100" lvl="1" indent="-342900">
              <a:buFont typeface="Courier New" panose="02070309020205020404" pitchFamily="49" charset="0"/>
              <a:buChar char="o"/>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p:txBody>
      </p:sp>
      <p:sp>
        <p:nvSpPr>
          <p:cNvPr id="8" name="TextBox 7">
            <a:extLst>
              <a:ext uri="{FF2B5EF4-FFF2-40B4-BE49-F238E27FC236}">
                <a16:creationId xmlns:a16="http://schemas.microsoft.com/office/drawing/2014/main" id="{B272A583-73A6-4728-B38F-00FB4C41B47F}"/>
              </a:ext>
            </a:extLst>
          </p:cNvPr>
          <p:cNvSpPr txBox="1"/>
          <p:nvPr/>
        </p:nvSpPr>
        <p:spPr>
          <a:xfrm>
            <a:off x="180754" y="1180214"/>
            <a:ext cx="5752214" cy="461665"/>
          </a:xfrm>
          <a:prstGeom prst="rect">
            <a:avLst/>
          </a:prstGeom>
          <a:noFill/>
        </p:spPr>
        <p:txBody>
          <a:bodyPr wrap="square" rtlCol="0">
            <a:spAutoFit/>
          </a:bodyPr>
          <a:lstStyle/>
          <a:p>
            <a:pPr algn="ctr"/>
            <a:r>
              <a:rPr lang="en-US" sz="2400" b="1" dirty="0">
                <a:solidFill>
                  <a:schemeClr val="tx1"/>
                </a:solidFill>
                <a:latin typeface="Arial Narrow" panose="020B0606020202030204" pitchFamily="34" charset="0"/>
              </a:rPr>
              <a:t>PRIMARY DATA</a:t>
            </a:r>
          </a:p>
        </p:txBody>
      </p:sp>
      <p:cxnSp>
        <p:nvCxnSpPr>
          <p:cNvPr id="5" name="Straight Connector 4">
            <a:extLst>
              <a:ext uri="{FF2B5EF4-FFF2-40B4-BE49-F238E27FC236}">
                <a16:creationId xmlns:a16="http://schemas.microsoft.com/office/drawing/2014/main" id="{ED9A9A57-554E-4BB7-9B77-296E3D87AF13}"/>
              </a:ext>
            </a:extLst>
          </p:cNvPr>
          <p:cNvCxnSpPr/>
          <p:nvPr/>
        </p:nvCxnSpPr>
        <p:spPr>
          <a:xfrm>
            <a:off x="6096000" y="1180214"/>
            <a:ext cx="0" cy="5380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1D1EF91-594B-4AF6-A5F9-BCACE0D2B228}"/>
              </a:ext>
            </a:extLst>
          </p:cNvPr>
          <p:cNvSpPr txBox="1"/>
          <p:nvPr/>
        </p:nvSpPr>
        <p:spPr>
          <a:xfrm>
            <a:off x="6259033" y="1881963"/>
            <a:ext cx="5752214"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Other data already exist because they were originally collected for another purpose. For example:</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A researcher might use government census data, </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hospital records, </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company sales data or </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information from an existing database.</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p:txBody>
      </p:sp>
      <p:sp>
        <p:nvSpPr>
          <p:cNvPr id="13" name="TextBox 12">
            <a:extLst>
              <a:ext uri="{FF2B5EF4-FFF2-40B4-BE49-F238E27FC236}">
                <a16:creationId xmlns:a16="http://schemas.microsoft.com/office/drawing/2014/main" id="{9CFF361E-1136-4E14-854C-1C1EAAD7C75B}"/>
              </a:ext>
            </a:extLst>
          </p:cNvPr>
          <p:cNvSpPr txBox="1"/>
          <p:nvPr/>
        </p:nvSpPr>
        <p:spPr>
          <a:xfrm>
            <a:off x="6259033" y="1180214"/>
            <a:ext cx="5752214" cy="461665"/>
          </a:xfrm>
          <a:prstGeom prst="rect">
            <a:avLst/>
          </a:prstGeom>
          <a:noFill/>
        </p:spPr>
        <p:txBody>
          <a:bodyPr wrap="square" rtlCol="0">
            <a:spAutoFit/>
          </a:bodyPr>
          <a:lstStyle/>
          <a:p>
            <a:pPr algn="ctr"/>
            <a:r>
              <a:rPr lang="en-US" sz="2400" b="1" dirty="0">
                <a:solidFill>
                  <a:schemeClr val="tx1"/>
                </a:solidFill>
                <a:latin typeface="Arial Narrow" panose="020B0606020202030204" pitchFamily="34" charset="0"/>
              </a:rPr>
              <a:t>SECONDARY DATA</a:t>
            </a:r>
          </a:p>
        </p:txBody>
      </p:sp>
    </p:spTree>
    <p:extLst>
      <p:ext uri="{BB962C8B-B14F-4D97-AF65-F5344CB8AC3E}">
        <p14:creationId xmlns:p14="http://schemas.microsoft.com/office/powerpoint/2010/main" val="390334240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Where does data come from?</a:t>
            </a:r>
          </a:p>
        </p:txBody>
      </p:sp>
      <p:sp>
        <p:nvSpPr>
          <p:cNvPr id="7" name="TextBox 6">
            <a:extLst>
              <a:ext uri="{FF2B5EF4-FFF2-40B4-BE49-F238E27FC236}">
                <a16:creationId xmlns:a16="http://schemas.microsoft.com/office/drawing/2014/main" id="{EE87E3AA-3872-433D-BB1B-85AF2E910CB2}"/>
              </a:ext>
            </a:extLst>
          </p:cNvPr>
          <p:cNvSpPr txBox="1"/>
          <p:nvPr/>
        </p:nvSpPr>
        <p:spPr>
          <a:xfrm>
            <a:off x="180754" y="754911"/>
            <a:ext cx="11823404" cy="830997"/>
          </a:xfrm>
          <a:prstGeom prst="rect">
            <a:avLst/>
          </a:prstGeom>
          <a:noFill/>
        </p:spPr>
        <p:txBody>
          <a:bodyPr wrap="square" rtlCol="0">
            <a:spAutoFit/>
          </a:bodyPr>
          <a:lstStyle/>
          <a:p>
            <a:r>
              <a:rPr lang="en-US" sz="2400" dirty="0">
                <a:solidFill>
                  <a:schemeClr val="tx1"/>
                </a:solidFill>
                <a:latin typeface="Arial Narrow" panose="020B0606020202030204" pitchFamily="34" charset="0"/>
              </a:rPr>
              <a:t>Common sources of data includes:</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p:txBody>
      </p:sp>
      <p:graphicFrame>
        <p:nvGraphicFramePr>
          <p:cNvPr id="2" name="Table 2">
            <a:extLst>
              <a:ext uri="{FF2B5EF4-FFF2-40B4-BE49-F238E27FC236}">
                <a16:creationId xmlns:a16="http://schemas.microsoft.com/office/drawing/2014/main" id="{88E1EC4B-79DE-4442-8002-B538B72069D7}"/>
              </a:ext>
            </a:extLst>
          </p:cNvPr>
          <p:cNvGraphicFramePr>
            <a:graphicFrameLocks noGrp="1"/>
          </p:cNvGraphicFramePr>
          <p:nvPr>
            <p:extLst>
              <p:ext uri="{D42A27DB-BD31-4B8C-83A1-F6EECF244321}">
                <p14:modId xmlns:p14="http://schemas.microsoft.com/office/powerpoint/2010/main" val="3214022244"/>
              </p:ext>
            </p:extLst>
          </p:nvPr>
        </p:nvGraphicFramePr>
        <p:xfrm>
          <a:off x="288258" y="1390739"/>
          <a:ext cx="11598941" cy="3566160"/>
        </p:xfrm>
        <a:graphic>
          <a:graphicData uri="http://schemas.openxmlformats.org/drawingml/2006/table">
            <a:tbl>
              <a:tblPr firstRow="1" bandRow="1">
                <a:tableStyleId>{5940675A-B579-460E-94D1-54222C63F5DA}</a:tableStyleId>
              </a:tblPr>
              <a:tblGrid>
                <a:gridCol w="3337444">
                  <a:extLst>
                    <a:ext uri="{9D8B030D-6E8A-4147-A177-3AD203B41FA5}">
                      <a16:colId xmlns:a16="http://schemas.microsoft.com/office/drawing/2014/main" val="4233724733"/>
                    </a:ext>
                  </a:extLst>
                </a:gridCol>
                <a:gridCol w="8261497">
                  <a:extLst>
                    <a:ext uri="{9D8B030D-6E8A-4147-A177-3AD203B41FA5}">
                      <a16:colId xmlns:a16="http://schemas.microsoft.com/office/drawing/2014/main" val="2943176829"/>
                    </a:ext>
                  </a:extLst>
                </a:gridCol>
              </a:tblGrid>
              <a:tr h="370840">
                <a:tc>
                  <a:txBody>
                    <a:bodyPr/>
                    <a:lstStyle/>
                    <a:p>
                      <a:r>
                        <a:rPr lang="en-AU" sz="2400" dirty="0">
                          <a:latin typeface="Arial Narrow" panose="020B0606020202030204" pitchFamily="34" charset="0"/>
                        </a:rPr>
                        <a:t>Surveys and Questionnaires</a:t>
                      </a:r>
                    </a:p>
                  </a:txBody>
                  <a:tcPr/>
                </a:tc>
                <a:tc>
                  <a:txBody>
                    <a:bodyPr/>
                    <a:lstStyle/>
                    <a:p>
                      <a:r>
                        <a:rPr lang="en-US" sz="2400" dirty="0">
                          <a:latin typeface="Arial Narrow" panose="020B0606020202030204" pitchFamily="34" charset="0"/>
                        </a:rPr>
                        <a:t>People report their opinions, </a:t>
                      </a:r>
                      <a:r>
                        <a:rPr lang="en-US" sz="2400" dirty="0" err="1">
                          <a:latin typeface="Arial Narrow" panose="020B0606020202030204" pitchFamily="34" charset="0"/>
                        </a:rPr>
                        <a:t>behaviours</a:t>
                      </a:r>
                      <a:r>
                        <a:rPr lang="en-US" sz="2400" dirty="0">
                          <a:latin typeface="Arial Narrow" panose="020B0606020202030204" pitchFamily="34" charset="0"/>
                        </a:rPr>
                        <a:t> or characteristics</a:t>
                      </a:r>
                      <a:endParaRPr lang="en-AU" sz="2400" dirty="0">
                        <a:latin typeface="Arial Narrow" panose="020B0606020202030204" pitchFamily="34" charset="0"/>
                      </a:endParaRPr>
                    </a:p>
                  </a:txBody>
                  <a:tcPr/>
                </a:tc>
                <a:extLst>
                  <a:ext uri="{0D108BD9-81ED-4DB2-BD59-A6C34878D82A}">
                    <a16:rowId xmlns:a16="http://schemas.microsoft.com/office/drawing/2014/main" val="562657573"/>
                  </a:ext>
                </a:extLst>
              </a:tr>
              <a:tr h="370840">
                <a:tc>
                  <a:txBody>
                    <a:bodyPr/>
                    <a:lstStyle/>
                    <a:p>
                      <a:r>
                        <a:rPr lang="en-AU" sz="2400" dirty="0">
                          <a:latin typeface="Arial Narrow" panose="020B0606020202030204" pitchFamily="34" charset="0"/>
                        </a:rPr>
                        <a:t>Experiments</a:t>
                      </a:r>
                    </a:p>
                  </a:txBody>
                  <a:tcPr/>
                </a:tc>
                <a:tc>
                  <a:txBody>
                    <a:bodyPr/>
                    <a:lstStyle/>
                    <a:p>
                      <a:r>
                        <a:rPr lang="en-US" sz="2400" dirty="0">
                          <a:latin typeface="Arial Narrow" panose="020B0606020202030204" pitchFamily="34" charset="0"/>
                        </a:rPr>
                        <a:t>Researchers deliberately change something and observe the outcome</a:t>
                      </a:r>
                      <a:endParaRPr lang="en-AU" sz="2400" dirty="0">
                        <a:latin typeface="Arial Narrow" panose="020B0606020202030204" pitchFamily="34" charset="0"/>
                      </a:endParaRPr>
                    </a:p>
                  </a:txBody>
                  <a:tcPr/>
                </a:tc>
                <a:extLst>
                  <a:ext uri="{0D108BD9-81ED-4DB2-BD59-A6C34878D82A}">
                    <a16:rowId xmlns:a16="http://schemas.microsoft.com/office/drawing/2014/main" val="554820999"/>
                  </a:ext>
                </a:extLst>
              </a:tr>
              <a:tr h="370840">
                <a:tc>
                  <a:txBody>
                    <a:bodyPr/>
                    <a:lstStyle/>
                    <a:p>
                      <a:r>
                        <a:rPr lang="en-AU" sz="2400" dirty="0">
                          <a:latin typeface="Arial Narrow" panose="020B0606020202030204" pitchFamily="34" charset="0"/>
                        </a:rPr>
                        <a:t>Observational studies</a:t>
                      </a:r>
                    </a:p>
                  </a:txBody>
                  <a:tcPr/>
                </a:tc>
                <a:tc>
                  <a:txBody>
                    <a:bodyPr/>
                    <a:lstStyle/>
                    <a:p>
                      <a:r>
                        <a:rPr lang="en-US" sz="2400" dirty="0">
                          <a:latin typeface="Arial Narrow" panose="020B0606020202030204" pitchFamily="34" charset="0"/>
                        </a:rPr>
                        <a:t>Researchers observe what occurs without directly intervening</a:t>
                      </a:r>
                      <a:endParaRPr lang="en-AU" sz="2400" dirty="0">
                        <a:latin typeface="Arial Narrow" panose="020B0606020202030204" pitchFamily="34" charset="0"/>
                      </a:endParaRPr>
                    </a:p>
                  </a:txBody>
                  <a:tcPr/>
                </a:tc>
                <a:extLst>
                  <a:ext uri="{0D108BD9-81ED-4DB2-BD59-A6C34878D82A}">
                    <a16:rowId xmlns:a16="http://schemas.microsoft.com/office/drawing/2014/main" val="3146919173"/>
                  </a:ext>
                </a:extLst>
              </a:tr>
              <a:tr h="370840">
                <a:tc>
                  <a:txBody>
                    <a:bodyPr/>
                    <a:lstStyle/>
                    <a:p>
                      <a:r>
                        <a:rPr lang="en-AU" sz="2400" dirty="0">
                          <a:latin typeface="Arial Narrow" panose="020B0606020202030204" pitchFamily="34" charset="0"/>
                        </a:rPr>
                        <a:t>Administrative records</a:t>
                      </a:r>
                    </a:p>
                  </a:txBody>
                  <a:tcPr/>
                </a:tc>
                <a:tc>
                  <a:txBody>
                    <a:bodyPr/>
                    <a:lstStyle/>
                    <a:p>
                      <a:r>
                        <a:rPr lang="en-US" sz="2400" dirty="0">
                          <a:latin typeface="Arial Narrow" panose="020B0606020202030204" pitchFamily="34" charset="0"/>
                        </a:rPr>
                        <a:t>Such as enrolment records, tax records and medical records</a:t>
                      </a:r>
                      <a:endParaRPr lang="en-AU" sz="2400" dirty="0">
                        <a:latin typeface="Arial Narrow" panose="020B0606020202030204" pitchFamily="34" charset="0"/>
                      </a:endParaRPr>
                    </a:p>
                  </a:txBody>
                  <a:tcPr/>
                </a:tc>
                <a:extLst>
                  <a:ext uri="{0D108BD9-81ED-4DB2-BD59-A6C34878D82A}">
                    <a16:rowId xmlns:a16="http://schemas.microsoft.com/office/drawing/2014/main" val="3591787193"/>
                  </a:ext>
                </a:extLst>
              </a:tr>
              <a:tr h="370840">
                <a:tc>
                  <a:txBody>
                    <a:bodyPr/>
                    <a:lstStyle/>
                    <a:p>
                      <a:r>
                        <a:rPr lang="en-AU" sz="2400" dirty="0">
                          <a:latin typeface="Arial Narrow" panose="020B0606020202030204" pitchFamily="34" charset="0"/>
                        </a:rPr>
                        <a:t>Business transactions</a:t>
                      </a:r>
                    </a:p>
                  </a:txBody>
                  <a:tcPr/>
                </a:tc>
                <a:tc>
                  <a:txBody>
                    <a:bodyPr/>
                    <a:lstStyle/>
                    <a:p>
                      <a:r>
                        <a:rPr lang="en-US" sz="2400" dirty="0">
                          <a:latin typeface="Arial Narrow" panose="020B0606020202030204" pitchFamily="34" charset="0"/>
                        </a:rPr>
                        <a:t>Including purchases, payments and customer interactions</a:t>
                      </a:r>
                    </a:p>
                  </a:txBody>
                  <a:tcPr/>
                </a:tc>
                <a:extLst>
                  <a:ext uri="{0D108BD9-81ED-4DB2-BD59-A6C34878D82A}">
                    <a16:rowId xmlns:a16="http://schemas.microsoft.com/office/drawing/2014/main" val="3258828322"/>
                  </a:ext>
                </a:extLst>
              </a:tr>
              <a:tr h="370840">
                <a:tc>
                  <a:txBody>
                    <a:bodyPr/>
                    <a:lstStyle/>
                    <a:p>
                      <a:r>
                        <a:rPr lang="en-AU" sz="2400" dirty="0">
                          <a:latin typeface="Arial Narrow" panose="020B0606020202030204" pitchFamily="34" charset="0"/>
                        </a:rPr>
                        <a:t>Sensors and devices</a:t>
                      </a:r>
                    </a:p>
                  </a:txBody>
                  <a:tcPr/>
                </a:tc>
                <a:tc>
                  <a:txBody>
                    <a:bodyPr/>
                    <a:lstStyle/>
                    <a:p>
                      <a:r>
                        <a:rPr lang="en-US" sz="2400" dirty="0">
                          <a:latin typeface="Arial Narrow" panose="020B0606020202030204" pitchFamily="34" charset="0"/>
                        </a:rPr>
                        <a:t>Such as fitness trackers, weather stations, satellites and GPS devices</a:t>
                      </a:r>
                    </a:p>
                  </a:txBody>
                  <a:tcPr/>
                </a:tc>
                <a:extLst>
                  <a:ext uri="{0D108BD9-81ED-4DB2-BD59-A6C34878D82A}">
                    <a16:rowId xmlns:a16="http://schemas.microsoft.com/office/drawing/2014/main" val="330042310"/>
                  </a:ext>
                </a:extLst>
              </a:tr>
              <a:tr h="370840">
                <a:tc>
                  <a:txBody>
                    <a:bodyPr/>
                    <a:lstStyle/>
                    <a:p>
                      <a:r>
                        <a:rPr lang="en-AU" sz="2400" dirty="0">
                          <a:latin typeface="Arial Narrow" panose="020B0606020202030204" pitchFamily="34" charset="0"/>
                        </a:rPr>
                        <a:t>Digital activity</a:t>
                      </a:r>
                    </a:p>
                  </a:txBody>
                  <a:tcPr/>
                </a:tc>
                <a:tc>
                  <a:txBody>
                    <a:bodyPr/>
                    <a:lstStyle/>
                    <a:p>
                      <a:r>
                        <a:rPr lang="en-US" sz="2400" dirty="0">
                          <a:latin typeface="Arial Narrow" panose="020B0606020202030204" pitchFamily="34" charset="0"/>
                        </a:rPr>
                        <a:t>Including website visits, online searches and interactions with apps or social media</a:t>
                      </a:r>
                    </a:p>
                  </a:txBody>
                  <a:tcPr/>
                </a:tc>
                <a:extLst>
                  <a:ext uri="{0D108BD9-81ED-4DB2-BD59-A6C34878D82A}">
                    <a16:rowId xmlns:a16="http://schemas.microsoft.com/office/drawing/2014/main" val="834385941"/>
                  </a:ext>
                </a:extLst>
              </a:tr>
            </a:tbl>
          </a:graphicData>
        </a:graphic>
      </p:graphicFrame>
      <p:sp>
        <p:nvSpPr>
          <p:cNvPr id="9" name="TextBox 8">
            <a:extLst>
              <a:ext uri="{FF2B5EF4-FFF2-40B4-BE49-F238E27FC236}">
                <a16:creationId xmlns:a16="http://schemas.microsoft.com/office/drawing/2014/main" id="{738626C5-8BF1-4FFF-B530-C69156165FE2}"/>
              </a:ext>
            </a:extLst>
          </p:cNvPr>
          <p:cNvSpPr txBox="1"/>
          <p:nvPr/>
        </p:nvSpPr>
        <p:spPr>
          <a:xfrm>
            <a:off x="176026" y="5054009"/>
            <a:ext cx="11823404" cy="830997"/>
          </a:xfrm>
          <a:prstGeom prst="rect">
            <a:avLst/>
          </a:prstGeom>
          <a:noFill/>
        </p:spPr>
        <p:txBody>
          <a:bodyPr wrap="square" rtlCol="0">
            <a:spAutoFit/>
          </a:bodyPr>
          <a:lstStyle/>
          <a:p>
            <a:r>
              <a:rPr lang="en-US" sz="2400" dirty="0">
                <a:solidFill>
                  <a:schemeClr val="tx1"/>
                </a:solidFill>
                <a:latin typeface="Arial Narrow" panose="020B0606020202030204" pitchFamily="34" charset="0"/>
              </a:rPr>
              <a:t>The source of the data matters because data are not simply neutral facts that appear on their own. </a:t>
            </a:r>
          </a:p>
          <a:p>
            <a:r>
              <a:rPr lang="en-US" sz="2400" dirty="0">
                <a:solidFill>
                  <a:schemeClr val="tx1"/>
                </a:solidFill>
                <a:latin typeface="Arial Narrow" panose="020B0606020202030204" pitchFamily="34" charset="0"/>
              </a:rPr>
              <a:t>Someone has decided what to measure, how to measure it, whom to include and when to collect it.</a:t>
            </a:r>
          </a:p>
        </p:txBody>
      </p:sp>
    </p:spTree>
    <p:extLst>
      <p:ext uri="{BB962C8B-B14F-4D97-AF65-F5344CB8AC3E}">
        <p14:creationId xmlns:p14="http://schemas.microsoft.com/office/powerpoint/2010/main" val="6775546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What do we do with data?</a:t>
            </a:r>
          </a:p>
        </p:txBody>
      </p:sp>
      <p:sp>
        <p:nvSpPr>
          <p:cNvPr id="7" name="TextBox 6">
            <a:extLst>
              <a:ext uri="{FF2B5EF4-FFF2-40B4-BE49-F238E27FC236}">
                <a16:creationId xmlns:a16="http://schemas.microsoft.com/office/drawing/2014/main" id="{EE87E3AA-3872-433D-BB1B-85AF2E910CB2}"/>
              </a:ext>
            </a:extLst>
          </p:cNvPr>
          <p:cNvSpPr txBox="1"/>
          <p:nvPr/>
        </p:nvSpPr>
        <p:spPr>
          <a:xfrm>
            <a:off x="180754" y="1031358"/>
            <a:ext cx="11823404" cy="5262979"/>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Before we do any analysis, we need to clean and </a:t>
            </a:r>
            <a:r>
              <a:rPr lang="en-US" sz="2400" dirty="0" err="1">
                <a:solidFill>
                  <a:schemeClr val="tx1"/>
                </a:solidFill>
                <a:latin typeface="Arial Narrow" panose="020B0606020202030204" pitchFamily="34" charset="0"/>
              </a:rPr>
              <a:t>organise</a:t>
            </a:r>
            <a:r>
              <a:rPr lang="en-US" sz="2400" dirty="0">
                <a:solidFill>
                  <a:schemeClr val="tx1"/>
                </a:solidFill>
                <a:latin typeface="Arial Narrow" panose="020B0606020202030204" pitchFamily="34" charset="0"/>
              </a:rPr>
              <a:t> our data. Real datasets may contain missing values, incorrect entries, inconsistent labels or duplicated observations.</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The process of cleaning real data is time-consuming, but worth it, because the real fun happens after that.</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With clean data, we then perform exploratory data analysis (EDA). Tables, graphs and summary statistics help us understand what has been observed. </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But the true strength of statistics is to make conclusions beyond the available data. When you see research articles published in journals, or breaking news stories on television/online, these are usually based upon statistical inference. </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p:txBody>
      </p:sp>
    </p:spTree>
    <p:extLst>
      <p:ext uri="{BB962C8B-B14F-4D97-AF65-F5344CB8AC3E}">
        <p14:creationId xmlns:p14="http://schemas.microsoft.com/office/powerpoint/2010/main" val="4931569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What do we do with data?</a:t>
            </a:r>
          </a:p>
        </p:txBody>
      </p:sp>
      <p:pic>
        <p:nvPicPr>
          <p:cNvPr id="5122" name="Picture 2">
            <a:extLst>
              <a:ext uri="{FF2B5EF4-FFF2-40B4-BE49-F238E27FC236}">
                <a16:creationId xmlns:a16="http://schemas.microsoft.com/office/drawing/2014/main" id="{B3370DFB-2976-447F-9842-C8F72E57B3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13765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397D3D22-A631-40EB-B85E-F58038AD7F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 y="0"/>
            <a:ext cx="121856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5730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Variables</a:t>
            </a:r>
          </a:p>
        </p:txBody>
      </p:sp>
      <p:sp>
        <p:nvSpPr>
          <p:cNvPr id="7" name="TextBox 6">
            <a:extLst>
              <a:ext uri="{FF2B5EF4-FFF2-40B4-BE49-F238E27FC236}">
                <a16:creationId xmlns:a16="http://schemas.microsoft.com/office/drawing/2014/main" id="{EE87E3AA-3872-433D-BB1B-85AF2E910CB2}"/>
              </a:ext>
            </a:extLst>
          </p:cNvPr>
          <p:cNvSpPr txBox="1"/>
          <p:nvPr/>
        </p:nvSpPr>
        <p:spPr>
          <a:xfrm>
            <a:off x="180754" y="1031358"/>
            <a:ext cx="11823404" cy="193899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A variable is a characteristic or measurement that can take different values across observations.</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The observations might be people, businesses, products, countries or points in time. For example, in a dataset containing information about students, each row might represent one student and each column might represent a variable.</a:t>
            </a:r>
          </a:p>
        </p:txBody>
      </p:sp>
      <p:pic>
        <p:nvPicPr>
          <p:cNvPr id="3" name="Picture 2">
            <a:extLst>
              <a:ext uri="{FF2B5EF4-FFF2-40B4-BE49-F238E27FC236}">
                <a16:creationId xmlns:a16="http://schemas.microsoft.com/office/drawing/2014/main" id="{0F390711-8186-4C74-BC03-32D757423A0F}"/>
              </a:ext>
            </a:extLst>
          </p:cNvPr>
          <p:cNvPicPr>
            <a:picLocks noChangeAspect="1"/>
          </p:cNvPicPr>
          <p:nvPr/>
        </p:nvPicPr>
        <p:blipFill rotWithShape="1">
          <a:blip r:embed="rId3"/>
          <a:srcRect l="28605" t="41319" r="29535" b="33532"/>
          <a:stretch/>
        </p:blipFill>
        <p:spPr>
          <a:xfrm>
            <a:off x="2358827" y="3232297"/>
            <a:ext cx="7474346" cy="2413591"/>
          </a:xfrm>
          <a:prstGeom prst="rect">
            <a:avLst/>
          </a:prstGeom>
        </p:spPr>
      </p:pic>
    </p:spTree>
    <p:extLst>
      <p:ext uri="{BB962C8B-B14F-4D97-AF65-F5344CB8AC3E}">
        <p14:creationId xmlns:p14="http://schemas.microsoft.com/office/powerpoint/2010/main" val="29537218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Variables</a:t>
            </a:r>
          </a:p>
        </p:txBody>
      </p:sp>
      <p:sp>
        <p:nvSpPr>
          <p:cNvPr id="7" name="TextBox 6">
            <a:extLst>
              <a:ext uri="{FF2B5EF4-FFF2-40B4-BE49-F238E27FC236}">
                <a16:creationId xmlns:a16="http://schemas.microsoft.com/office/drawing/2014/main" id="{EE87E3AA-3872-433D-BB1B-85AF2E910CB2}"/>
              </a:ext>
            </a:extLst>
          </p:cNvPr>
          <p:cNvSpPr txBox="1"/>
          <p:nvPr/>
        </p:nvSpPr>
        <p:spPr>
          <a:xfrm>
            <a:off x="180754" y="1031358"/>
            <a:ext cx="11823404"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The amount of studying and the test score can vary from one student to another. One student might study for two hours, while another might study for six hours. Their test scores may also differ.</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Variables can also change for the same person over time. A student might study for five hours for one test but only two hours for another. The same student may obtain different scores across different assessments.</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Therefore, variation can occur:</a:t>
            </a:r>
          </a:p>
          <a:p>
            <a:pPr marL="800100" lvl="1" indent="-342900">
              <a:buFont typeface="Courier New" panose="02070309020205020404" pitchFamily="49" charset="0"/>
              <a:buChar char="o"/>
            </a:pPr>
            <a:r>
              <a:rPr lang="en-US" sz="2400" dirty="0">
                <a:solidFill>
                  <a:srgbClr val="FF0000"/>
                </a:solidFill>
                <a:latin typeface="Arial Narrow" panose="020B0606020202030204" pitchFamily="34" charset="0"/>
              </a:rPr>
              <a:t>between people</a:t>
            </a:r>
            <a:r>
              <a:rPr lang="en-US" sz="2400" dirty="0">
                <a:solidFill>
                  <a:schemeClr val="tx1"/>
                </a:solidFill>
                <a:latin typeface="Arial Narrow" panose="020B0606020202030204" pitchFamily="34" charset="0"/>
              </a:rPr>
              <a:t>, because different students may have different values;</a:t>
            </a:r>
          </a:p>
          <a:p>
            <a:pPr marL="800100" lvl="1" indent="-342900">
              <a:buFont typeface="Courier New" panose="02070309020205020404" pitchFamily="49" charset="0"/>
              <a:buChar char="o"/>
            </a:pPr>
            <a:r>
              <a:rPr lang="en-US" sz="2400" dirty="0">
                <a:solidFill>
                  <a:srgbClr val="FF0000"/>
                </a:solidFill>
                <a:latin typeface="Arial Narrow" panose="020B0606020202030204" pitchFamily="34" charset="0"/>
              </a:rPr>
              <a:t>within a person</a:t>
            </a:r>
            <a:r>
              <a:rPr lang="en-US" sz="2400" dirty="0">
                <a:solidFill>
                  <a:schemeClr val="tx1"/>
                </a:solidFill>
                <a:latin typeface="Arial Narrow" panose="020B0606020202030204" pitchFamily="34" charset="0"/>
              </a:rPr>
              <a:t>, because the same student’s value may change over time.</a:t>
            </a:r>
          </a:p>
        </p:txBody>
      </p:sp>
    </p:spTree>
    <p:extLst>
      <p:ext uri="{BB962C8B-B14F-4D97-AF65-F5344CB8AC3E}">
        <p14:creationId xmlns:p14="http://schemas.microsoft.com/office/powerpoint/2010/main" val="416474100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Levels of Measurement</a:t>
            </a:r>
          </a:p>
        </p:txBody>
      </p:sp>
      <p:pic>
        <p:nvPicPr>
          <p:cNvPr id="3" name="Picture 2">
            <a:extLst>
              <a:ext uri="{FF2B5EF4-FFF2-40B4-BE49-F238E27FC236}">
                <a16:creationId xmlns:a16="http://schemas.microsoft.com/office/drawing/2014/main" id="{6B1AB996-A789-4D9D-9F39-8E8341F975E1}"/>
              </a:ext>
            </a:extLst>
          </p:cNvPr>
          <p:cNvPicPr>
            <a:picLocks noChangeAspect="1"/>
          </p:cNvPicPr>
          <p:nvPr/>
        </p:nvPicPr>
        <p:blipFill rotWithShape="1">
          <a:blip r:embed="rId3"/>
          <a:srcRect t="14207"/>
          <a:stretch/>
        </p:blipFill>
        <p:spPr>
          <a:xfrm>
            <a:off x="510362" y="818707"/>
            <a:ext cx="11036595" cy="5328902"/>
          </a:xfrm>
          <a:prstGeom prst="rect">
            <a:avLst/>
          </a:prstGeom>
        </p:spPr>
      </p:pic>
    </p:spTree>
    <p:extLst>
      <p:ext uri="{BB962C8B-B14F-4D97-AF65-F5344CB8AC3E}">
        <p14:creationId xmlns:p14="http://schemas.microsoft.com/office/powerpoint/2010/main" val="15196343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Statistics is a lot like cooking!</a:t>
            </a:r>
          </a:p>
        </p:txBody>
      </p:sp>
      <p:sp>
        <p:nvSpPr>
          <p:cNvPr id="5" name="TextBox 4">
            <a:extLst>
              <a:ext uri="{FF2B5EF4-FFF2-40B4-BE49-F238E27FC236}">
                <a16:creationId xmlns:a16="http://schemas.microsoft.com/office/drawing/2014/main" id="{7A60D5B0-2DA2-49F0-8636-B73F8244DCD3}"/>
              </a:ext>
            </a:extLst>
          </p:cNvPr>
          <p:cNvSpPr txBox="1"/>
          <p:nvPr/>
        </p:nvSpPr>
        <p:spPr>
          <a:xfrm>
            <a:off x="180754" y="1031358"/>
            <a:ext cx="4603897"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When cooking a dish, you need to use the right ingredients with the right tools, to obtain the desired outcome! The same principal applies in Statistics as well.</a:t>
            </a:r>
          </a:p>
          <a:p>
            <a:pPr marL="342900" indent="-342900">
              <a:buFont typeface="Arial" panose="020B0604020202020204" pitchFamily="34" charset="0"/>
              <a:buChar char="•"/>
            </a:pPr>
            <a:endParaRPr lang="en-US" sz="2400" dirty="0">
              <a:latin typeface="Arial Narrow" panose="020B0606020202030204" pitchFamily="34" charset="0"/>
            </a:endParaRPr>
          </a:p>
          <a:p>
            <a:pPr marL="342900" indent="-342900">
              <a:buFont typeface="Arial" panose="020B0604020202020204" pitchFamily="34" charset="0"/>
              <a:buChar char="•"/>
            </a:pPr>
            <a:r>
              <a:rPr lang="en-US" sz="2400" dirty="0">
                <a:solidFill>
                  <a:schemeClr val="tx1"/>
                </a:solidFill>
                <a:latin typeface="Arial Narrow" panose="020B0606020202030204" pitchFamily="34" charset="0"/>
              </a:rPr>
              <a:t>If we use the wrong statistical tool for the data at hand, our results may be misleading or invalid, just like trying to bake a cake in a deep fryer.</a:t>
            </a:r>
          </a:p>
          <a:p>
            <a:pPr marL="342900" indent="-342900">
              <a:buFont typeface="Arial" panose="020B0604020202020204" pitchFamily="34" charset="0"/>
              <a:buChar char="•"/>
            </a:pPr>
            <a:endParaRPr lang="en-US" sz="2400" dirty="0">
              <a:solidFill>
                <a:schemeClr val="tx1"/>
              </a:solidFill>
              <a:latin typeface="Arial Narrow" panose="020B0606020202030204" pitchFamily="34" charset="0"/>
            </a:endParaRPr>
          </a:p>
        </p:txBody>
      </p:sp>
      <p:pic>
        <p:nvPicPr>
          <p:cNvPr id="7" name="Picture 6">
            <a:extLst>
              <a:ext uri="{FF2B5EF4-FFF2-40B4-BE49-F238E27FC236}">
                <a16:creationId xmlns:a16="http://schemas.microsoft.com/office/drawing/2014/main" id="{ED7968CA-0F87-446C-878E-5A9259DD8E84}"/>
              </a:ext>
            </a:extLst>
          </p:cNvPr>
          <p:cNvPicPr>
            <a:picLocks noChangeAspect="1"/>
          </p:cNvPicPr>
          <p:nvPr/>
        </p:nvPicPr>
        <p:blipFill rotWithShape="1">
          <a:blip r:embed="rId3"/>
          <a:srcRect l="27733" t="52840" r="28575" b="13250"/>
          <a:stretch/>
        </p:blipFill>
        <p:spPr>
          <a:xfrm>
            <a:off x="5348177" y="818706"/>
            <a:ext cx="6663069" cy="2779603"/>
          </a:xfrm>
          <a:prstGeom prst="rect">
            <a:avLst/>
          </a:prstGeom>
        </p:spPr>
      </p:pic>
      <p:pic>
        <p:nvPicPr>
          <p:cNvPr id="10" name="Picture 9">
            <a:extLst>
              <a:ext uri="{FF2B5EF4-FFF2-40B4-BE49-F238E27FC236}">
                <a16:creationId xmlns:a16="http://schemas.microsoft.com/office/drawing/2014/main" id="{8381135D-C4A7-45A7-AA4E-B8A6987FFD79}"/>
              </a:ext>
            </a:extLst>
          </p:cNvPr>
          <p:cNvPicPr>
            <a:picLocks noChangeAspect="1"/>
          </p:cNvPicPr>
          <p:nvPr/>
        </p:nvPicPr>
        <p:blipFill rotWithShape="1">
          <a:blip r:embed="rId4"/>
          <a:srcRect l="611" t="16125" r="1453" b="14108"/>
          <a:stretch/>
        </p:blipFill>
        <p:spPr>
          <a:xfrm>
            <a:off x="5408429" y="3947263"/>
            <a:ext cx="6510669" cy="2608906"/>
          </a:xfrm>
          <a:prstGeom prst="rect">
            <a:avLst/>
          </a:prstGeom>
        </p:spPr>
      </p:pic>
    </p:spTree>
    <p:extLst>
      <p:ext uri="{BB962C8B-B14F-4D97-AF65-F5344CB8AC3E}">
        <p14:creationId xmlns:p14="http://schemas.microsoft.com/office/powerpoint/2010/main" val="30705128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Explanatory and outcome variables</a:t>
            </a:r>
          </a:p>
        </p:txBody>
      </p:sp>
      <p:sp>
        <p:nvSpPr>
          <p:cNvPr id="5" name="TextBox 4">
            <a:extLst>
              <a:ext uri="{FF2B5EF4-FFF2-40B4-BE49-F238E27FC236}">
                <a16:creationId xmlns:a16="http://schemas.microsoft.com/office/drawing/2014/main" id="{7A60D5B0-2DA2-49F0-8636-B73F8244DCD3}"/>
              </a:ext>
            </a:extLst>
          </p:cNvPr>
          <p:cNvSpPr txBox="1"/>
          <p:nvPr/>
        </p:nvSpPr>
        <p:spPr>
          <a:xfrm>
            <a:off x="180754" y="1031358"/>
            <a:ext cx="11748976" cy="2677656"/>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1"/>
                </a:solidFill>
                <a:latin typeface="Arial Narrow" panose="020B0606020202030204" pitchFamily="34" charset="0"/>
              </a:rPr>
              <a:t>When investigating a relationship, variables are often described according to the role they play in the research question.</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An </a:t>
            </a:r>
            <a:r>
              <a:rPr lang="en-US" sz="2400" b="1" dirty="0">
                <a:solidFill>
                  <a:schemeClr val="tx1"/>
                </a:solidFill>
                <a:latin typeface="Arial Narrow" panose="020B0606020202030204" pitchFamily="34" charset="0"/>
              </a:rPr>
              <a:t>outcome variable </a:t>
            </a:r>
            <a:r>
              <a:rPr lang="en-US" sz="2400" dirty="0">
                <a:solidFill>
                  <a:schemeClr val="tx1"/>
                </a:solidFill>
                <a:latin typeface="Arial Narrow" panose="020B0606020202030204" pitchFamily="34" charset="0"/>
              </a:rPr>
              <a:t>is the variable we want to understand, explain or predict. It represents the result of interest.</a:t>
            </a:r>
          </a:p>
          <a:p>
            <a:pPr marL="800100" lvl="1" indent="-342900">
              <a:buFont typeface="Courier New" panose="02070309020205020404" pitchFamily="49" charset="0"/>
              <a:buChar char="o"/>
            </a:pPr>
            <a:r>
              <a:rPr lang="en-US" sz="2400" dirty="0">
                <a:solidFill>
                  <a:schemeClr val="tx1"/>
                </a:solidFill>
                <a:latin typeface="Arial Narrow" panose="020B0606020202030204" pitchFamily="34" charset="0"/>
              </a:rPr>
              <a:t>An </a:t>
            </a:r>
            <a:r>
              <a:rPr lang="en-US" sz="2400" b="1" dirty="0">
                <a:solidFill>
                  <a:schemeClr val="tx1"/>
                </a:solidFill>
                <a:latin typeface="Arial Narrow" panose="020B0606020202030204" pitchFamily="34" charset="0"/>
              </a:rPr>
              <a:t>explanatory variable </a:t>
            </a:r>
            <a:r>
              <a:rPr lang="en-US" sz="2400" dirty="0">
                <a:solidFill>
                  <a:schemeClr val="tx1"/>
                </a:solidFill>
                <a:latin typeface="Arial Narrow" panose="020B0606020202030204" pitchFamily="34" charset="0"/>
              </a:rPr>
              <a:t>is a variable that may help explain or predict variation in the outcome variable.</a:t>
            </a:r>
          </a:p>
          <a:p>
            <a:pPr marL="342900" indent="-342900">
              <a:buFont typeface="Courier New" panose="02070309020205020404" pitchFamily="49" charset="0"/>
              <a:buChar char="o"/>
            </a:pPr>
            <a:endParaRPr lang="en-US" sz="2400" dirty="0">
              <a:latin typeface="Arial Narrow" panose="020B0606020202030204" pitchFamily="34" charset="0"/>
            </a:endParaRPr>
          </a:p>
        </p:txBody>
      </p:sp>
      <p:sp>
        <p:nvSpPr>
          <p:cNvPr id="6" name="Rectangle 5">
            <a:extLst>
              <a:ext uri="{FF2B5EF4-FFF2-40B4-BE49-F238E27FC236}">
                <a16:creationId xmlns:a16="http://schemas.microsoft.com/office/drawing/2014/main" id="{5FA3F9EC-E15A-459E-ABE3-66A564CA6C10}"/>
              </a:ext>
            </a:extLst>
          </p:cNvPr>
          <p:cNvSpPr/>
          <p:nvPr/>
        </p:nvSpPr>
        <p:spPr>
          <a:xfrm>
            <a:off x="1218600" y="3709014"/>
            <a:ext cx="2070510" cy="1291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a:extLst>
              <a:ext uri="{FF2B5EF4-FFF2-40B4-BE49-F238E27FC236}">
                <a16:creationId xmlns:a16="http://schemas.microsoft.com/office/drawing/2014/main" id="{9C4FB387-3EB6-492D-87CF-0823F8DD4DBC}"/>
              </a:ext>
            </a:extLst>
          </p:cNvPr>
          <p:cNvSpPr/>
          <p:nvPr/>
        </p:nvSpPr>
        <p:spPr>
          <a:xfrm>
            <a:off x="9214388" y="3709014"/>
            <a:ext cx="2070510" cy="12918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9" name="Straight Arrow Connector 8">
            <a:extLst>
              <a:ext uri="{FF2B5EF4-FFF2-40B4-BE49-F238E27FC236}">
                <a16:creationId xmlns:a16="http://schemas.microsoft.com/office/drawing/2014/main" id="{4FE132EA-3568-4A0A-BD4B-B9B0B3040ADF}"/>
              </a:ext>
            </a:extLst>
          </p:cNvPr>
          <p:cNvCxnSpPr/>
          <p:nvPr/>
        </p:nvCxnSpPr>
        <p:spPr>
          <a:xfrm>
            <a:off x="3655800" y="4369899"/>
            <a:ext cx="522889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DE9845D-EB1A-40DF-B0E1-957285978D7B}"/>
              </a:ext>
            </a:extLst>
          </p:cNvPr>
          <p:cNvSpPr txBox="1"/>
          <p:nvPr/>
        </p:nvSpPr>
        <p:spPr>
          <a:xfrm>
            <a:off x="1392072" y="3932115"/>
            <a:ext cx="1618896" cy="954107"/>
          </a:xfrm>
          <a:prstGeom prst="rect">
            <a:avLst/>
          </a:prstGeom>
          <a:noFill/>
        </p:spPr>
        <p:txBody>
          <a:bodyPr wrap="square" rtlCol="0">
            <a:spAutoFit/>
          </a:bodyPr>
          <a:lstStyle/>
          <a:p>
            <a:pPr algn="ctr"/>
            <a:r>
              <a:rPr lang="en-AU" sz="2800" b="1" dirty="0">
                <a:latin typeface="Agency FB" panose="020B0503020202020204" pitchFamily="34" charset="0"/>
              </a:rPr>
              <a:t>Explanatory variable</a:t>
            </a:r>
          </a:p>
        </p:txBody>
      </p:sp>
      <p:sp>
        <p:nvSpPr>
          <p:cNvPr id="12" name="TextBox 11">
            <a:extLst>
              <a:ext uri="{FF2B5EF4-FFF2-40B4-BE49-F238E27FC236}">
                <a16:creationId xmlns:a16="http://schemas.microsoft.com/office/drawing/2014/main" id="{802D6340-A6C6-4247-8364-F7A69CF0FB17}"/>
              </a:ext>
            </a:extLst>
          </p:cNvPr>
          <p:cNvSpPr txBox="1"/>
          <p:nvPr/>
        </p:nvSpPr>
        <p:spPr>
          <a:xfrm>
            <a:off x="9214388" y="3932114"/>
            <a:ext cx="2070510" cy="954107"/>
          </a:xfrm>
          <a:prstGeom prst="rect">
            <a:avLst/>
          </a:prstGeom>
          <a:noFill/>
        </p:spPr>
        <p:txBody>
          <a:bodyPr wrap="square" rtlCol="0">
            <a:spAutoFit/>
          </a:bodyPr>
          <a:lstStyle/>
          <a:p>
            <a:pPr algn="ctr"/>
            <a:r>
              <a:rPr lang="en-AU" sz="2800" b="1" dirty="0">
                <a:latin typeface="Agency FB" panose="020B0503020202020204" pitchFamily="34" charset="0"/>
              </a:rPr>
              <a:t>Outcome variable</a:t>
            </a:r>
          </a:p>
        </p:txBody>
      </p:sp>
    </p:spTree>
    <p:extLst>
      <p:ext uri="{BB962C8B-B14F-4D97-AF65-F5344CB8AC3E}">
        <p14:creationId xmlns:p14="http://schemas.microsoft.com/office/powerpoint/2010/main" val="3254035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Explanatory and outcome variables</a:t>
            </a:r>
          </a:p>
        </p:txBody>
      </p:sp>
      <p:sp>
        <p:nvSpPr>
          <p:cNvPr id="13" name="TextBox 12">
            <a:extLst>
              <a:ext uri="{FF2B5EF4-FFF2-40B4-BE49-F238E27FC236}">
                <a16:creationId xmlns:a16="http://schemas.microsoft.com/office/drawing/2014/main" id="{0CBC95C9-E187-4407-AE92-EF4A8C7772CE}"/>
              </a:ext>
            </a:extLst>
          </p:cNvPr>
          <p:cNvSpPr txBox="1"/>
          <p:nvPr/>
        </p:nvSpPr>
        <p:spPr>
          <a:xfrm>
            <a:off x="136478" y="760240"/>
            <a:ext cx="5732058" cy="523220"/>
          </a:xfrm>
          <a:prstGeom prst="rect">
            <a:avLst/>
          </a:prstGeom>
          <a:noFill/>
          <a:ln>
            <a:solidFill>
              <a:schemeClr val="tx1"/>
            </a:solidFill>
          </a:ln>
        </p:spPr>
        <p:txBody>
          <a:bodyPr wrap="square" rtlCol="0">
            <a:spAutoFit/>
          </a:bodyPr>
          <a:lstStyle/>
          <a:p>
            <a:pPr algn="ctr"/>
            <a:r>
              <a:rPr lang="en-AU" sz="2800" dirty="0">
                <a:latin typeface="Arial Narrow" panose="020B0606020202030204" pitchFamily="34" charset="0"/>
              </a:rPr>
              <a:t>Explanatory variable</a:t>
            </a:r>
          </a:p>
        </p:txBody>
      </p:sp>
      <p:sp>
        <p:nvSpPr>
          <p:cNvPr id="14" name="TextBox 13">
            <a:extLst>
              <a:ext uri="{FF2B5EF4-FFF2-40B4-BE49-F238E27FC236}">
                <a16:creationId xmlns:a16="http://schemas.microsoft.com/office/drawing/2014/main" id="{39CAFC12-9266-42C3-B6E5-8C22155452E6}"/>
              </a:ext>
            </a:extLst>
          </p:cNvPr>
          <p:cNvSpPr txBox="1"/>
          <p:nvPr/>
        </p:nvSpPr>
        <p:spPr>
          <a:xfrm>
            <a:off x="136478" y="1351508"/>
            <a:ext cx="5732058" cy="4308872"/>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en-US" sz="2200" dirty="0">
                <a:latin typeface="Arial Narrow" panose="020B0606020202030204" pitchFamily="34" charset="0"/>
              </a:rPr>
              <a:t>An explanatory variable is a variable that might explain, influence or predict changes in another variable.</a:t>
            </a:r>
          </a:p>
          <a:p>
            <a:pPr marL="342900" indent="-342900">
              <a:buFont typeface="Arial" panose="020B0604020202020204" pitchFamily="34" charset="0"/>
              <a:buChar char="•"/>
            </a:pPr>
            <a:endParaRPr lang="en-US" sz="500" dirty="0">
              <a:latin typeface="Arial Narrow" panose="020B0606020202030204" pitchFamily="34" charset="0"/>
            </a:endParaRPr>
          </a:p>
          <a:p>
            <a:pPr marL="342900" indent="-342900">
              <a:buFont typeface="Arial" panose="020B0604020202020204" pitchFamily="34" charset="0"/>
              <a:buChar char="•"/>
            </a:pPr>
            <a:r>
              <a:rPr lang="en-US" sz="2200" dirty="0">
                <a:latin typeface="Arial Narrow" panose="020B0606020202030204" pitchFamily="34" charset="0"/>
              </a:rPr>
              <a:t>It represents the possible reason why outcomes differ. Depending on the context, it may also be called a predictor, independent variable, input or risk factor.</a:t>
            </a:r>
          </a:p>
          <a:p>
            <a:pPr marL="342900" indent="-342900">
              <a:buFont typeface="Arial" panose="020B0604020202020204" pitchFamily="34" charset="0"/>
              <a:buChar char="•"/>
            </a:pPr>
            <a:endParaRPr lang="en-US" sz="500" dirty="0">
              <a:latin typeface="Arial Narrow" panose="020B0606020202030204" pitchFamily="34" charset="0"/>
            </a:endParaRPr>
          </a:p>
          <a:p>
            <a:pPr marL="342900" indent="-342900">
              <a:buFont typeface="Arial" panose="020B0604020202020204" pitchFamily="34" charset="0"/>
              <a:buChar char="•"/>
            </a:pPr>
            <a:r>
              <a:rPr lang="en-US" sz="2200" dirty="0">
                <a:latin typeface="Arial Narrow" panose="020B0606020202030204" pitchFamily="34" charset="0"/>
              </a:rPr>
              <a:t>An explanatory variable can be:</a:t>
            </a:r>
          </a:p>
          <a:p>
            <a:pPr marL="800100" lvl="1" indent="-342900">
              <a:buFont typeface="Arial" panose="020B0604020202020204" pitchFamily="34" charset="0"/>
              <a:buChar char="•"/>
            </a:pPr>
            <a:r>
              <a:rPr lang="en-US" sz="2200" dirty="0">
                <a:latin typeface="Arial Narrow" panose="020B0606020202030204" pitchFamily="34" charset="0"/>
              </a:rPr>
              <a:t>Categorical, such as treatment group, teaching method or employment type.</a:t>
            </a:r>
          </a:p>
          <a:p>
            <a:pPr marL="800100" lvl="1" indent="-342900">
              <a:buFont typeface="Arial" panose="020B0604020202020204" pitchFamily="34" charset="0"/>
              <a:buChar char="•"/>
            </a:pPr>
            <a:r>
              <a:rPr lang="en-US" sz="2200" dirty="0">
                <a:latin typeface="Arial Narrow" panose="020B0606020202030204" pitchFamily="34" charset="0"/>
              </a:rPr>
              <a:t>Numeric, such as age, temperature, advertising expenditure or hours of sleep.</a:t>
            </a:r>
          </a:p>
        </p:txBody>
      </p:sp>
      <p:sp>
        <p:nvSpPr>
          <p:cNvPr id="15" name="TextBox 14">
            <a:extLst>
              <a:ext uri="{FF2B5EF4-FFF2-40B4-BE49-F238E27FC236}">
                <a16:creationId xmlns:a16="http://schemas.microsoft.com/office/drawing/2014/main" id="{A1D31ED7-D393-4E74-930F-7DADAB26E028}"/>
              </a:ext>
            </a:extLst>
          </p:cNvPr>
          <p:cNvSpPr txBox="1"/>
          <p:nvPr/>
        </p:nvSpPr>
        <p:spPr>
          <a:xfrm>
            <a:off x="6323464" y="760240"/>
            <a:ext cx="5732058" cy="523220"/>
          </a:xfrm>
          <a:prstGeom prst="rect">
            <a:avLst/>
          </a:prstGeom>
          <a:noFill/>
          <a:ln>
            <a:solidFill>
              <a:schemeClr val="tx1"/>
            </a:solidFill>
          </a:ln>
        </p:spPr>
        <p:txBody>
          <a:bodyPr wrap="square" rtlCol="0">
            <a:spAutoFit/>
          </a:bodyPr>
          <a:lstStyle/>
          <a:p>
            <a:pPr algn="ctr"/>
            <a:r>
              <a:rPr lang="en-AU" sz="2800" dirty="0">
                <a:latin typeface="Arial Narrow" panose="020B0606020202030204" pitchFamily="34" charset="0"/>
              </a:rPr>
              <a:t>Outcome variable</a:t>
            </a:r>
          </a:p>
        </p:txBody>
      </p:sp>
      <p:sp>
        <p:nvSpPr>
          <p:cNvPr id="16" name="TextBox 15">
            <a:extLst>
              <a:ext uri="{FF2B5EF4-FFF2-40B4-BE49-F238E27FC236}">
                <a16:creationId xmlns:a16="http://schemas.microsoft.com/office/drawing/2014/main" id="{B858D1DF-5C47-4F34-849E-676C5A3DB3F6}"/>
              </a:ext>
            </a:extLst>
          </p:cNvPr>
          <p:cNvSpPr txBox="1"/>
          <p:nvPr/>
        </p:nvSpPr>
        <p:spPr>
          <a:xfrm>
            <a:off x="6323464" y="1351508"/>
            <a:ext cx="5732058" cy="4324261"/>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en-US" sz="2200" dirty="0">
                <a:latin typeface="Arial Narrow" panose="020B0606020202030204" pitchFamily="34" charset="0"/>
              </a:rPr>
              <a:t>An outcome variable is the variable we want to understand, explain or predict.</a:t>
            </a:r>
          </a:p>
          <a:p>
            <a:pPr marL="342900" indent="-342900">
              <a:buFont typeface="Arial" panose="020B0604020202020204" pitchFamily="34" charset="0"/>
              <a:buChar char="•"/>
            </a:pPr>
            <a:endParaRPr lang="en-US" sz="1100" dirty="0">
              <a:latin typeface="Arial Narrow" panose="020B0606020202030204" pitchFamily="34" charset="0"/>
            </a:endParaRPr>
          </a:p>
          <a:p>
            <a:pPr marL="342900" indent="-342900">
              <a:buFont typeface="Arial" panose="020B0604020202020204" pitchFamily="34" charset="0"/>
              <a:buChar char="•"/>
            </a:pPr>
            <a:r>
              <a:rPr lang="en-US" sz="2200" dirty="0">
                <a:latin typeface="Arial Narrow" panose="020B0606020202030204" pitchFamily="34" charset="0"/>
              </a:rPr>
              <a:t>It records the result or response of interest. Depending on the context, it may also be called a response, dependent variable or target.</a:t>
            </a:r>
          </a:p>
          <a:p>
            <a:pPr marL="342900" indent="-342900">
              <a:buFont typeface="Arial" panose="020B0604020202020204" pitchFamily="34" charset="0"/>
              <a:buChar char="•"/>
            </a:pPr>
            <a:endParaRPr lang="en-US" sz="2200" dirty="0">
              <a:latin typeface="Arial Narrow" panose="020B0606020202030204" pitchFamily="34" charset="0"/>
            </a:endParaRPr>
          </a:p>
          <a:p>
            <a:pPr marL="342900" indent="-342900">
              <a:buFont typeface="Arial" panose="020B0604020202020204" pitchFamily="34" charset="0"/>
              <a:buChar char="•"/>
            </a:pPr>
            <a:r>
              <a:rPr lang="en-US" sz="2200" dirty="0">
                <a:latin typeface="Arial Narrow" panose="020B0606020202030204" pitchFamily="34" charset="0"/>
              </a:rPr>
              <a:t>An outcome variable can also be:</a:t>
            </a:r>
          </a:p>
          <a:p>
            <a:pPr marL="800100" lvl="1" indent="-342900">
              <a:buFont typeface="Arial" panose="020B0604020202020204" pitchFamily="34" charset="0"/>
              <a:buChar char="•"/>
            </a:pPr>
            <a:r>
              <a:rPr lang="en-US" sz="2200" dirty="0">
                <a:latin typeface="Arial Narrow" panose="020B0606020202030204" pitchFamily="34" charset="0"/>
              </a:rPr>
              <a:t>Categorical, such as whether a patient recovered, whether a customer made a purchase </a:t>
            </a:r>
          </a:p>
          <a:p>
            <a:pPr marL="800100" lvl="1" indent="-342900">
              <a:buFont typeface="Arial" panose="020B0604020202020204" pitchFamily="34" charset="0"/>
              <a:buChar char="•"/>
            </a:pPr>
            <a:r>
              <a:rPr lang="en-US" sz="2200" dirty="0">
                <a:latin typeface="Arial Narrow" panose="020B0606020202030204" pitchFamily="34" charset="0"/>
              </a:rPr>
              <a:t>Numeric, such as recovery time, sales revenue, examination score or stress level.</a:t>
            </a:r>
          </a:p>
        </p:txBody>
      </p:sp>
    </p:spTree>
    <p:extLst>
      <p:ext uri="{BB962C8B-B14F-4D97-AF65-F5344CB8AC3E}">
        <p14:creationId xmlns:p14="http://schemas.microsoft.com/office/powerpoint/2010/main" val="27822548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8C0DF-5589-7910-774A-28D013AEDA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C73E8E-0D58-4B4B-A5C4-A8AE38997407}"/>
              </a:ext>
            </a:extLst>
          </p:cNvPr>
          <p:cNvSpPr txBox="1"/>
          <p:nvPr/>
        </p:nvSpPr>
        <p:spPr>
          <a:xfrm>
            <a:off x="0" y="0"/>
            <a:ext cx="12192000" cy="646331"/>
          </a:xfrm>
          <a:prstGeom prst="rect">
            <a:avLst/>
          </a:prstGeom>
          <a:solidFill>
            <a:srgbClr val="002060"/>
          </a:solidFill>
        </p:spPr>
        <p:txBody>
          <a:bodyPr wrap="square" rtlCol="0">
            <a:spAutoFit/>
          </a:bodyPr>
          <a:lstStyle/>
          <a:p>
            <a:pPr algn="ctr"/>
            <a:r>
              <a:rPr lang="en-AU" sz="3600" dirty="0">
                <a:solidFill>
                  <a:schemeClr val="bg1"/>
                </a:solidFill>
                <a:latin typeface="Arial Narrow" panose="020B0606020202030204" pitchFamily="34" charset="0"/>
              </a:rPr>
              <a:t>Explanatory and outcome variables</a:t>
            </a:r>
          </a:p>
        </p:txBody>
      </p:sp>
      <p:sp>
        <p:nvSpPr>
          <p:cNvPr id="7" name="TextBox 6">
            <a:extLst>
              <a:ext uri="{FF2B5EF4-FFF2-40B4-BE49-F238E27FC236}">
                <a16:creationId xmlns:a16="http://schemas.microsoft.com/office/drawing/2014/main" id="{C0B1A893-24AD-492D-BDD2-C0BF0644ED87}"/>
              </a:ext>
            </a:extLst>
          </p:cNvPr>
          <p:cNvSpPr txBox="1"/>
          <p:nvPr/>
        </p:nvSpPr>
        <p:spPr>
          <a:xfrm>
            <a:off x="447976" y="4351471"/>
            <a:ext cx="2841134" cy="830997"/>
          </a:xfrm>
          <a:prstGeom prst="rect">
            <a:avLst/>
          </a:prstGeom>
          <a:noFill/>
          <a:ln>
            <a:solidFill>
              <a:schemeClr val="tx1"/>
            </a:solidFill>
          </a:ln>
        </p:spPr>
        <p:txBody>
          <a:bodyPr wrap="square" rtlCol="0">
            <a:spAutoFit/>
          </a:bodyPr>
          <a:lstStyle/>
          <a:p>
            <a:pPr algn="ctr"/>
            <a:r>
              <a:rPr lang="en-US" sz="2400" dirty="0"/>
              <a:t>What might help explain or predict it? </a:t>
            </a:r>
            <a:endParaRPr lang="en-US" sz="2200" dirty="0">
              <a:latin typeface="Agency FB" panose="020B0503020202020204" pitchFamily="34" charset="0"/>
            </a:endParaRPr>
          </a:p>
        </p:txBody>
      </p:sp>
      <p:sp>
        <p:nvSpPr>
          <p:cNvPr id="8" name="TextBox 7">
            <a:extLst>
              <a:ext uri="{FF2B5EF4-FFF2-40B4-BE49-F238E27FC236}">
                <a16:creationId xmlns:a16="http://schemas.microsoft.com/office/drawing/2014/main" id="{99136C01-38C3-49FB-8304-572E0A309B0C}"/>
              </a:ext>
            </a:extLst>
          </p:cNvPr>
          <p:cNvSpPr txBox="1"/>
          <p:nvPr/>
        </p:nvSpPr>
        <p:spPr>
          <a:xfrm>
            <a:off x="9214388" y="4351471"/>
            <a:ext cx="2841134" cy="830997"/>
          </a:xfrm>
          <a:prstGeom prst="rect">
            <a:avLst/>
          </a:prstGeom>
          <a:noFill/>
          <a:ln>
            <a:solidFill>
              <a:schemeClr val="tx1"/>
            </a:solidFill>
          </a:ln>
        </p:spPr>
        <p:txBody>
          <a:bodyPr wrap="square" rtlCol="0">
            <a:spAutoFit/>
          </a:bodyPr>
          <a:lstStyle/>
          <a:p>
            <a:pPr algn="ctr"/>
            <a:r>
              <a:rPr lang="en-US" sz="2400" dirty="0"/>
              <a:t>What are we trying to explain or predict?</a:t>
            </a:r>
            <a:endParaRPr lang="en-US" sz="2200" dirty="0">
              <a:latin typeface="Agency FB" panose="020B0503020202020204" pitchFamily="34" charset="0"/>
            </a:endParaRPr>
          </a:p>
        </p:txBody>
      </p:sp>
      <p:sp>
        <p:nvSpPr>
          <p:cNvPr id="9" name="Rectangle 8">
            <a:extLst>
              <a:ext uri="{FF2B5EF4-FFF2-40B4-BE49-F238E27FC236}">
                <a16:creationId xmlns:a16="http://schemas.microsoft.com/office/drawing/2014/main" id="{2C75D25A-46D3-4819-BB7A-D9FC1C80A8FD}"/>
              </a:ext>
            </a:extLst>
          </p:cNvPr>
          <p:cNvSpPr/>
          <p:nvPr/>
        </p:nvSpPr>
        <p:spPr>
          <a:xfrm>
            <a:off x="447976" y="2231081"/>
            <a:ext cx="2841134" cy="20705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Rectangle 9">
            <a:extLst>
              <a:ext uri="{FF2B5EF4-FFF2-40B4-BE49-F238E27FC236}">
                <a16:creationId xmlns:a16="http://schemas.microsoft.com/office/drawing/2014/main" id="{3C3F5792-19A7-4416-9B60-FD0D01754B45}"/>
              </a:ext>
            </a:extLst>
          </p:cNvPr>
          <p:cNvSpPr/>
          <p:nvPr/>
        </p:nvSpPr>
        <p:spPr>
          <a:xfrm>
            <a:off x="9214388" y="2231081"/>
            <a:ext cx="2841134" cy="207051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1" name="Straight Arrow Connector 10">
            <a:extLst>
              <a:ext uri="{FF2B5EF4-FFF2-40B4-BE49-F238E27FC236}">
                <a16:creationId xmlns:a16="http://schemas.microsoft.com/office/drawing/2014/main" id="{9DCCBC5D-AB19-401F-BCFA-86340820A8A9}"/>
              </a:ext>
            </a:extLst>
          </p:cNvPr>
          <p:cNvCxnSpPr/>
          <p:nvPr/>
        </p:nvCxnSpPr>
        <p:spPr>
          <a:xfrm>
            <a:off x="3655800" y="3544678"/>
            <a:ext cx="5228893"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A06E061-153B-42F0-8C4D-291A08E40A70}"/>
              </a:ext>
            </a:extLst>
          </p:cNvPr>
          <p:cNvSpPr txBox="1"/>
          <p:nvPr/>
        </p:nvSpPr>
        <p:spPr>
          <a:xfrm>
            <a:off x="447976" y="2666171"/>
            <a:ext cx="2841134" cy="1200329"/>
          </a:xfrm>
          <a:prstGeom prst="rect">
            <a:avLst/>
          </a:prstGeom>
          <a:noFill/>
        </p:spPr>
        <p:txBody>
          <a:bodyPr wrap="square" rtlCol="0">
            <a:spAutoFit/>
          </a:bodyPr>
          <a:lstStyle/>
          <a:p>
            <a:pPr algn="ctr"/>
            <a:r>
              <a:rPr lang="en-AU" sz="3600" b="1" dirty="0">
                <a:latin typeface="Agency FB" panose="020B0503020202020204" pitchFamily="34" charset="0"/>
              </a:rPr>
              <a:t>Explanatory variable</a:t>
            </a:r>
          </a:p>
        </p:txBody>
      </p:sp>
      <p:sp>
        <p:nvSpPr>
          <p:cNvPr id="17" name="TextBox 16">
            <a:extLst>
              <a:ext uri="{FF2B5EF4-FFF2-40B4-BE49-F238E27FC236}">
                <a16:creationId xmlns:a16="http://schemas.microsoft.com/office/drawing/2014/main" id="{B7078A47-F2AB-426C-95D6-0D14D90E6360}"/>
              </a:ext>
            </a:extLst>
          </p:cNvPr>
          <p:cNvSpPr txBox="1"/>
          <p:nvPr/>
        </p:nvSpPr>
        <p:spPr>
          <a:xfrm>
            <a:off x="9218688" y="2666171"/>
            <a:ext cx="2836834" cy="1200329"/>
          </a:xfrm>
          <a:prstGeom prst="rect">
            <a:avLst/>
          </a:prstGeom>
          <a:noFill/>
        </p:spPr>
        <p:txBody>
          <a:bodyPr wrap="square" rtlCol="0">
            <a:spAutoFit/>
          </a:bodyPr>
          <a:lstStyle/>
          <a:p>
            <a:pPr algn="ctr"/>
            <a:r>
              <a:rPr lang="en-AU" sz="3600" b="1" dirty="0">
                <a:latin typeface="Agency FB" panose="020B0503020202020204" pitchFamily="34" charset="0"/>
              </a:rPr>
              <a:t>Outcome variable</a:t>
            </a:r>
          </a:p>
        </p:txBody>
      </p:sp>
      <p:sp>
        <p:nvSpPr>
          <p:cNvPr id="18" name="TextBox 17">
            <a:extLst>
              <a:ext uri="{FF2B5EF4-FFF2-40B4-BE49-F238E27FC236}">
                <a16:creationId xmlns:a16="http://schemas.microsoft.com/office/drawing/2014/main" id="{EC133DC9-F84F-42EC-B623-F54CE4957AC5}"/>
              </a:ext>
            </a:extLst>
          </p:cNvPr>
          <p:cNvSpPr txBox="1"/>
          <p:nvPr/>
        </p:nvSpPr>
        <p:spPr>
          <a:xfrm>
            <a:off x="3655800" y="2896866"/>
            <a:ext cx="5228893" cy="553998"/>
          </a:xfrm>
          <a:prstGeom prst="rect">
            <a:avLst/>
          </a:prstGeom>
          <a:noFill/>
          <a:ln>
            <a:noFill/>
          </a:ln>
        </p:spPr>
        <p:txBody>
          <a:bodyPr wrap="square" rtlCol="0">
            <a:spAutoFit/>
          </a:bodyPr>
          <a:lstStyle/>
          <a:p>
            <a:pPr algn="ctr"/>
            <a:r>
              <a:rPr lang="en-US" sz="3000" dirty="0"/>
              <a:t>Causes</a:t>
            </a:r>
            <a:endParaRPr lang="en-US" sz="3000" dirty="0">
              <a:latin typeface="Agency FB" panose="020B0503020202020204" pitchFamily="34" charset="0"/>
            </a:endParaRPr>
          </a:p>
        </p:txBody>
      </p:sp>
      <p:cxnSp>
        <p:nvCxnSpPr>
          <p:cNvPr id="19" name="Straight Connector 18">
            <a:extLst>
              <a:ext uri="{FF2B5EF4-FFF2-40B4-BE49-F238E27FC236}">
                <a16:creationId xmlns:a16="http://schemas.microsoft.com/office/drawing/2014/main" id="{B3821F10-76F8-47B3-B308-A44F3C944989}"/>
              </a:ext>
            </a:extLst>
          </p:cNvPr>
          <p:cNvCxnSpPr/>
          <p:nvPr/>
        </p:nvCxnSpPr>
        <p:spPr>
          <a:xfrm>
            <a:off x="5500047" y="3187513"/>
            <a:ext cx="15831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82773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1614</Words>
  <Application>Microsoft Office PowerPoint</Application>
  <PresentationFormat>Widescreen</PresentationFormat>
  <Paragraphs>180</Paragraphs>
  <Slides>21</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Agency FB</vt:lpstr>
      <vt:lpstr>Arial</vt:lpstr>
      <vt:lpstr>Arial Narrow</vt:lpstr>
      <vt:lpstr>Calibri</vt:lpstr>
      <vt:lpstr>Calibri Light</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Huynh</dc:creator>
  <cp:lastModifiedBy>Minh Huynh</cp:lastModifiedBy>
  <cp:revision>9</cp:revision>
  <dcterms:created xsi:type="dcterms:W3CDTF">2026-10-12T10:11:40Z</dcterms:created>
  <dcterms:modified xsi:type="dcterms:W3CDTF">2026-10-12T12:03:47Z</dcterms:modified>
</cp:coreProperties>
</file>